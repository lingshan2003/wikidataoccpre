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5114a2931c241d7" /><Relationship Type="http://schemas.openxmlformats.org/officeDocument/2006/relationships/extended-properties" Target="/docProps/app.xml" Id="Rc747cc96586e4c8a" /><Relationship Type="http://schemas.openxmlformats.org/officeDocument/2006/relationships/officeDocument" Target="/ppt/presentation.xml" Id="R1dfa0b8123e148a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86ed77e9d1445da"/>
  </p:sldMasterIdLst>
  <p:notesMasterIdLst>
    <p:notesMasterId xmlns:r="http://schemas.openxmlformats.org/officeDocument/2006/relationships" r:id="R318102a2fa4a4e74"/>
  </p:notesMasterIdLst>
  <p:sldIdLst>
    <p:sldId xmlns:r="http://schemas.openxmlformats.org/officeDocument/2006/relationships" id="256" r:id="R5e83f8a4e1554fa2"/>
    <p:sldId xmlns:r="http://schemas.openxmlformats.org/officeDocument/2006/relationships" id="257" r:id="Rdc8e8450c9d54de4"/>
    <p:sldId xmlns:r="http://schemas.openxmlformats.org/officeDocument/2006/relationships" id="258" r:id="Rbbb185917e754b77"/>
    <p:sldId xmlns:r="http://schemas.openxmlformats.org/officeDocument/2006/relationships" id="259" r:id="R8d508c71d1ac456e"/>
    <p:sldId xmlns:r="http://schemas.openxmlformats.org/officeDocument/2006/relationships" id="260" r:id="Raca6da720a9843f0"/>
    <p:sldId xmlns:r="http://schemas.openxmlformats.org/officeDocument/2006/relationships" id="261" r:id="R016fb74ef6fa440c"/>
    <p:sldId xmlns:r="http://schemas.openxmlformats.org/officeDocument/2006/relationships" id="262" r:id="R9d7d710d40d949cd"/>
    <p:sldId xmlns:r="http://schemas.openxmlformats.org/officeDocument/2006/relationships" id="263" r:id="Rb9135b6ff3db4893"/>
    <p:sldId xmlns:r="http://schemas.openxmlformats.org/officeDocument/2006/relationships" id="264" r:id="R491dd15c7a7d4c5b"/>
    <p:sldId xmlns:r="http://schemas.openxmlformats.org/officeDocument/2006/relationships" id="265" r:id="Rc156a31ff9034ef7"/>
    <p:sldId xmlns:r="http://schemas.openxmlformats.org/officeDocument/2006/relationships" id="266" r:id="R5f71d150e1574114"/>
    <p:sldId xmlns:r="http://schemas.openxmlformats.org/officeDocument/2006/relationships" id="267" r:id="R79975cec3cdc4268"/>
    <p:sldId xmlns:r="http://schemas.openxmlformats.org/officeDocument/2006/relationships" id="268" r:id="R45131009bf5f4563"/>
    <p:sldId xmlns:r="http://schemas.openxmlformats.org/officeDocument/2006/relationships" id="269" r:id="R2ec778979486485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cc5cd7490b549ba" /><Relationship Type="http://schemas.openxmlformats.org/officeDocument/2006/relationships/slideMaster" Target="/ppt/slideMasters/slideMaster1.xml" Id="R286ed77e9d1445da" /><Relationship Type="http://schemas.openxmlformats.org/officeDocument/2006/relationships/notesMaster" Target="/ppt/notesMasters/notesMaster1.xml" Id="R318102a2fa4a4e74" /><Relationship Type="http://schemas.openxmlformats.org/officeDocument/2006/relationships/presProps" Target="/ppt/presProps.xml" Id="R5f9a180d398845ed" /><Relationship Type="http://schemas.openxmlformats.org/officeDocument/2006/relationships/tableStyles" Target="/ppt/tableStyles.xml" Id="Rbc7ab45c08934fc6" /><Relationship Type="http://schemas.openxmlformats.org/officeDocument/2006/relationships/slide" Target="/ppt/slides/slide1.xml" Id="R5e83f8a4e1554fa2" /><Relationship Type="http://schemas.openxmlformats.org/officeDocument/2006/relationships/slide" Target="/ppt/slides/slide2.xml" Id="Rdc8e8450c9d54de4" /><Relationship Type="http://schemas.openxmlformats.org/officeDocument/2006/relationships/slide" Target="/ppt/slides/slide3.xml" Id="Rbbb185917e754b77" /><Relationship Type="http://schemas.openxmlformats.org/officeDocument/2006/relationships/slide" Target="/ppt/slides/slide4.xml" Id="R8d508c71d1ac456e" /><Relationship Type="http://schemas.openxmlformats.org/officeDocument/2006/relationships/slide" Target="/ppt/slides/slide5.xml" Id="Raca6da720a9843f0" /><Relationship Type="http://schemas.openxmlformats.org/officeDocument/2006/relationships/slide" Target="/ppt/slides/slide6.xml" Id="R016fb74ef6fa440c" /><Relationship Type="http://schemas.openxmlformats.org/officeDocument/2006/relationships/slide" Target="/ppt/slides/slide7.xml" Id="R9d7d710d40d949cd" /><Relationship Type="http://schemas.openxmlformats.org/officeDocument/2006/relationships/slide" Target="/ppt/slides/slide8.xml" Id="Rb9135b6ff3db4893" /><Relationship Type="http://schemas.openxmlformats.org/officeDocument/2006/relationships/slide" Target="/ppt/slides/slide9.xml" Id="R491dd15c7a7d4c5b" /><Relationship Type="http://schemas.openxmlformats.org/officeDocument/2006/relationships/slide" Target="/ppt/slides/slide10.xml" Id="Rc156a31ff9034ef7" /><Relationship Type="http://schemas.openxmlformats.org/officeDocument/2006/relationships/slide" Target="/ppt/slides/slide11.xml" Id="R5f71d150e1574114" /><Relationship Type="http://schemas.openxmlformats.org/officeDocument/2006/relationships/slide" Target="/ppt/slides/slide12.xml" Id="R79975cec3cdc4268" /><Relationship Type="http://schemas.openxmlformats.org/officeDocument/2006/relationships/slide" Target="/ppt/slides/slide13.xml" Id="R45131009bf5f4563" /><Relationship Type="http://schemas.openxmlformats.org/officeDocument/2006/relationships/slide" Target="/ppt/slides/slide14.xml" Id="R2ec778979486485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a9a30845efc483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c75d2635e5d463f" /><Relationship Type="http://schemas.openxmlformats.org/officeDocument/2006/relationships/notesMaster" Target="/ppt/notesMasters/notesMaster1.xml" Id="R2b050ebf1dfe403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261de2ce7a94cc9" /><Relationship Type="http://schemas.openxmlformats.org/officeDocument/2006/relationships/notesMaster" Target="/ppt/notesMasters/notesMaster1.xml" Id="R85fba6843a6c461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578a584b7b24395" /><Relationship Type="http://schemas.openxmlformats.org/officeDocument/2006/relationships/notesMaster" Target="/ppt/notesMasters/notesMaster1.xml" Id="R6149c8fd276f403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cda259c88894d3f" /><Relationship Type="http://schemas.openxmlformats.org/officeDocument/2006/relationships/notesMaster" Target="/ppt/notesMasters/notesMaster1.xml" Id="Re3c4c2484a8c48e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e0acd2719154653" /><Relationship Type="http://schemas.openxmlformats.org/officeDocument/2006/relationships/notesMaster" Target="/ppt/notesMasters/notesMaster1.xml" Id="R6c124616ee77451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332f5a1e2a94beb" /><Relationship Type="http://schemas.openxmlformats.org/officeDocument/2006/relationships/notesMaster" Target="/ppt/notesMasters/notesMaster1.xml" Id="R591163ebe89042b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d7eb8b6ffd5478b" /><Relationship Type="http://schemas.openxmlformats.org/officeDocument/2006/relationships/notesMaster" Target="/ppt/notesMasters/notesMaster1.xml" Id="R43bc2affecd04e8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27c622cb5184206" /><Relationship Type="http://schemas.openxmlformats.org/officeDocument/2006/relationships/notesMaster" Target="/ppt/notesMasters/notesMaster1.xml" Id="R0f7b94a9199b464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e3f330e70334e92" /><Relationship Type="http://schemas.openxmlformats.org/officeDocument/2006/relationships/notesMaster" Target="/ppt/notesMasters/notesMaster1.xml" Id="Rdad3b814eda54b1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7f61dc364104d84" /><Relationship Type="http://schemas.openxmlformats.org/officeDocument/2006/relationships/notesMaster" Target="/ppt/notesMasters/notesMaster1.xml" Id="R4dc0a9a97f90428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d6652dcfc044eb2" /><Relationship Type="http://schemas.openxmlformats.org/officeDocument/2006/relationships/notesMaster" Target="/ppt/notesMasters/notesMaster1.xml" Id="R776d852950fc46f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5994dbc246a40f5" /><Relationship Type="http://schemas.openxmlformats.org/officeDocument/2006/relationships/notesMaster" Target="/ppt/notesMasters/notesMaster1.xml" Id="R1ac131905c2c40c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417153a831e495a" /><Relationship Type="http://schemas.openxmlformats.org/officeDocument/2006/relationships/notesMaster" Target="/ppt/notesMasters/notesMaster1.xml" Id="Re75bf9e62ede4fb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d36aa4d225b4f93" /><Relationship Type="http://schemas.openxmlformats.org/officeDocument/2006/relationships/notesMaster" Target="/ppt/notesMasters/notesMaster1.xml" Id="Rfc0059429cc7483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内部数据与公式：/Users/wangyue/RGCN/rgat_l1_attention_message_heatmaps.ipynb</a:t>
            </a:r>
          </a:p>
          <a:p xmlns:a="http://schemas.openxmlformats.org/drawingml/2006/main">
            <a:r>
              <a:t>样式参考：用户提供的两页内部汇报截图。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文字改写自用户提供的第 1 页内部汇报截图；统计实现：/Users/wangyue/RGCN/rgat_l1_attention_message_heatmaps.ipynb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公式与实现：/Users/wangyue/RGCN/rgat_l1_attention_message_heatmaps.ipynb</a:t>
            </a:r>
          </a:p>
          <a:p xmlns:a="http://schemas.openxmlformats.org/drawingml/2006/main">
            <a:r>
              <a:t>原始 attention 数据：runs_report/level1/rgat_l1_root_attention_all_relations/labeled/direct/root_direct_attention_sparse_by_seed.csv.gz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图：/Users/wangyue/RGCN/visulization/01_raw_attention_exact_kinship.png</a:t>
            </a:r>
          </a:p>
          <a:p xmlns:a="http://schemas.openxmlformats.org/drawingml/2006/main">
            <a:r>
              <a:t>公式与统计口径：/Users/wangyue/RGCN/rgat_l1_attention_message_heatmaps.ipynb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图：/Users/wangyue/RGCN/visulization/02_raw_attention_relation_family.png</a:t>
            </a:r>
          </a:p>
          <a:p xmlns:a="http://schemas.openxmlformats.org/drawingml/2006/main">
            <a:r>
              <a:t>公式与统计口径：/Users/wangyue/RGCN/rgat_l1_attention_message_heatmaps.ipynb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图：/Users/wangyue/RGCN/visulization/03_attention_budget_share_exact_kinship.png</a:t>
            </a:r>
          </a:p>
          <a:p xmlns:a="http://schemas.openxmlformats.org/drawingml/2006/main">
            <a:r>
              <a:t>公式与统计口径：/Users/wangyue/RGCN/rgat_l1_attention_message_heatmaps.ipynb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图：/Users/wangyue/RGCN/visulization/04_attention_budget_share_relation_family.png</a:t>
            </a:r>
          </a:p>
          <a:p xmlns:a="http://schemas.openxmlformats.org/drawingml/2006/main">
            <a:r>
              <a:t>公式与统计口径：/Users/wangyue/RGCN/rgat_l1_attention_message_heatmaps.ipynb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图：/Users/wangyue/RGCN/visulization/05_raw_message_absolute_l2_exact_kinship.png</a:t>
            </a:r>
          </a:p>
          <a:p xmlns:a="http://schemas.openxmlformats.org/drawingml/2006/main">
            <a:r>
              <a:t>公式与统计口径：/Users/wangyue/RGCN/rgat_l1_attention_message_heatmaps.ipynb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图：/Users/wangyue/RGCN/visulization/06_raw_message_absolute_l2_relation_family.png</a:t>
            </a:r>
          </a:p>
          <a:p xmlns:a="http://schemas.openxmlformats.org/drawingml/2006/main">
            <a:r>
              <a:t>公式与统计口径：/Users/wangyue/RGCN/rgat_l1_attention_message_heatmaps.ipynb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图：/Users/wangyue/RGCN/visulization/07_message_budget_share_exact_kinship.png</a:t>
            </a:r>
          </a:p>
          <a:p xmlns:a="http://schemas.openxmlformats.org/drawingml/2006/main">
            <a:r>
              <a:t>公式与统计口径：/Users/wangyue/RGCN/rgat_l1_attention_message_heatmaps.ipynb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图：/Users/wangyue/RGCN/visulization/08_message_budget_share_relation_family.png</a:t>
            </a:r>
          </a:p>
          <a:p xmlns:a="http://schemas.openxmlformats.org/drawingml/2006/main">
            <a:r>
              <a:t>公式与统计口径：/Users/wangyue/RGCN/rgat_l1_attention_message_heatmaps.ipynb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图：/Users/wangyue/RGCN/visulization/09_gradient_x_attention_exact_kinship.png</a:t>
            </a:r>
          </a:p>
          <a:p xmlns:a="http://schemas.openxmlformats.org/drawingml/2006/main">
            <a:r>
              <a:t>公式与统计口径：/Users/wangyue/RGCN/rgat_l1_attention_message_heatmaps.ipynb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图：/Users/wangyue/RGCN/visulization/10_gradient_x_attention_relation_family.png</a:t>
            </a:r>
          </a:p>
          <a:p xmlns:a="http://schemas.openxmlformats.org/drawingml/2006/main">
            <a:r>
              <a:t>公式与统计口径：/Users/wangyue/RGCN/rgat_l1_attention_message_heatmaps.ipynb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汇总依据：/Users/wangyue/RGCN/rgat_l1_attention_message_heatmaps.ipynb</a:t>
            </a:r>
          </a:p>
          <a:p xmlns:a="http://schemas.openxmlformats.org/drawingml/2006/main">
            <a:r>
              <a:t>图表目录：/Users/wangyue/RGCN/visulization/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f58ac1e460482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2d027c4f8604af9" /><Relationship Type="http://schemas.openxmlformats.org/officeDocument/2006/relationships/slideLayout" Target="/ppt/slideLayouts/slideLayout1.xml" Id="R29d61438ccd546d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9d61438ccd546d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c8be038bf64772" /><Relationship Type="http://schemas.openxmlformats.org/officeDocument/2006/relationships/notesSlide" Target="/ppt/notesSlides/notesSlide1.xml" Id="Rb7d3d67cde904d1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61dfd2d5d243cb" /><Relationship Type="http://schemas.openxmlformats.org/officeDocument/2006/relationships/notesSlide" Target="/ppt/notesSlides/notesSlide2.xml" Id="R73b7b96df3ab4ad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8885a080b542ef" /><Relationship Type="http://schemas.openxmlformats.org/officeDocument/2006/relationships/notesSlide" Target="/ppt/notesSlides/notesSlide3.xml" Id="Rafce66c9c3fe455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4e43506e0344ac" /><Relationship Type="http://schemas.openxmlformats.org/officeDocument/2006/relationships/image" Target="/ppt/media/image.png" Id="R9542797246b84bd3" /><Relationship Type="http://schemas.openxmlformats.org/officeDocument/2006/relationships/notesSlide" Target="/ppt/notesSlides/notesSlide4.xml" Id="R158702551f85430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919f85202242c2" /><Relationship Type="http://schemas.openxmlformats.org/officeDocument/2006/relationships/image" Target="/ppt/media/image2.png" Id="R7fd8a62219e14292" /><Relationship Type="http://schemas.openxmlformats.org/officeDocument/2006/relationships/notesSlide" Target="/ppt/notesSlides/notesSlide5.xml" Id="Ref8f5db114bf478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4cef523f3445d0" /><Relationship Type="http://schemas.openxmlformats.org/officeDocument/2006/relationships/image" Target="/ppt/media/image3.png" Id="Rc45c4f8868474419" /><Relationship Type="http://schemas.openxmlformats.org/officeDocument/2006/relationships/notesSlide" Target="/ppt/notesSlides/notesSlide6.xml" Id="Rb42d52e90cb2467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2944bc888b4322" /><Relationship Type="http://schemas.openxmlformats.org/officeDocument/2006/relationships/image" Target="/ppt/media/image4.png" Id="R3b64df1faf55454d" /><Relationship Type="http://schemas.openxmlformats.org/officeDocument/2006/relationships/notesSlide" Target="/ppt/notesSlides/notesSlide7.xml" Id="R18824c06009744a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e36b95a70b4bb7" /><Relationship Type="http://schemas.openxmlformats.org/officeDocument/2006/relationships/image" Target="/ppt/media/image5.png" Id="R4d63b67657704891" /><Relationship Type="http://schemas.openxmlformats.org/officeDocument/2006/relationships/notesSlide" Target="/ppt/notesSlides/notesSlide8.xml" Id="R5ff46a23177a496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00a747ef374d51" /><Relationship Type="http://schemas.openxmlformats.org/officeDocument/2006/relationships/image" Target="/ppt/media/image6.png" Id="Rd1012b0641094734" /><Relationship Type="http://schemas.openxmlformats.org/officeDocument/2006/relationships/notesSlide" Target="/ppt/notesSlides/notesSlide9.xml" Id="R22329b03941b4b4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8e183639b24da5" /><Relationship Type="http://schemas.openxmlformats.org/officeDocument/2006/relationships/image" Target="/ppt/media/image7.png" Id="Ra8a575eba0854db0" /><Relationship Type="http://schemas.openxmlformats.org/officeDocument/2006/relationships/notesSlide" Target="/ppt/notesSlides/notesSlide10.xml" Id="R2717fa4fe6c8441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7a738662414231" /><Relationship Type="http://schemas.openxmlformats.org/officeDocument/2006/relationships/image" Target="/ppt/media/image8.png" Id="R705edecd0c3c4be9" /><Relationship Type="http://schemas.openxmlformats.org/officeDocument/2006/relationships/notesSlide" Target="/ppt/notesSlides/notesSlide11.xml" Id="R93680cf8d7fb4d2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1900cb3cb242d4" /><Relationship Type="http://schemas.openxmlformats.org/officeDocument/2006/relationships/image" Target="/ppt/media/image9.png" Id="R2faca5a413f6481c" /><Relationship Type="http://schemas.openxmlformats.org/officeDocument/2006/relationships/notesSlide" Target="/ppt/notesSlides/notesSlide12.xml" Id="R2ebb919d1abe428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f01b985a1b4030" /><Relationship Type="http://schemas.openxmlformats.org/officeDocument/2006/relationships/image" Target="/ppt/media/image10.png" Id="R24e15315ef374588" /><Relationship Type="http://schemas.openxmlformats.org/officeDocument/2006/relationships/notesSlide" Target="/ppt/notesSlides/notesSlide13.xml" Id="Re10bc9d49f47428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a78bb5f0e74bc8" /><Relationship Type="http://schemas.openxmlformats.org/officeDocument/2006/relationships/notesSlide" Target="/ppt/notesSlides/notesSlide14.xml" Id="R7e208f5c0df84f4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7E7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2B3619-C447-4F4D-9B0C-8BEF73B39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04875"/>
            <a:ext cx="885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01010"/>
                </a:solidFill>
              </a:defRPr>
            </a:pPr>
            <a:r>
              <a:rPr sz="3600" b="1">
                <a:solidFill>
                  <a:srgbClr val="101010"/>
                </a:solidFill>
              </a:rPr>
              <a:t>RGAT 权重提取与可视化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BD5460-9B08-4893-A2A7-9D05F7162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819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8EBDC1-0D4A-4F7F-9D30-6B6EDDEA3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002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303030"/>
                </a:solidFill>
              </a:defRPr>
            </a:pPr>
            <a:r>
              <a:rPr sz="1725">
                <a:solidFill>
                  <a:srgbClr val="303030"/>
                </a:solidFill>
              </a:rPr>
              <a:t>L1 pair · labeled roots · 3 seeds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DF3F2B-6652-40E4-BBFE-BAD44E687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86125"/>
            <a:ext cx="914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01010"/>
                </a:solidFill>
              </a:defRPr>
            </a:pPr>
            <a:r>
              <a:rPr sz="1650">
                <a:solidFill>
                  <a:srgbClr val="101010"/>
                </a:solidFill>
              </a:rPr>
              <a:t>内容：raw attention、attention budget share、raw message、message budget share、gradient × attention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B60139-CBF0-428F-A857-141BB69EE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1910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35353"/>
                </a:solidFill>
              </a:defRPr>
            </a:pPr>
            <a:r>
              <a:rPr sz="1350">
                <a:solidFill>
                  <a:srgbClr val="535353"/>
                </a:solidFill>
              </a:rPr>
              <a:t>内部汇报 · 仅说明计算定义与图表呈现，不对结果作解释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381A16-BFB3-4EEE-8B5F-7EDB03567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9906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535353"/>
                </a:solidFill>
              </a:defRPr>
            </a:pPr>
            <a:r>
              <a:rPr sz="675">
                <a:solidFill>
                  <a:srgbClr val="535353"/>
                </a:solidFill>
              </a:rPr>
              <a:t>内部汇报 · RGAT one-hop · labeled roots · L1 layer 1 · seeds 42 / 43 / 44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5045CD-C185-4169-9815-AA64BF927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35353"/>
                </a:solidFill>
              </a:defRPr>
            </a:pPr>
            <a:r>
              <a:rPr sz="825" b="1">
                <a:solidFill>
                  <a:srgbClr val="535353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57464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7E7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70CF2D-C793-4C8C-8EE2-263159494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8150"/>
            <a:ext cx="10096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01010"/>
                </a:solidFill>
              </a:defRPr>
            </a:pPr>
            <a:r>
              <a:rPr sz="2625" b="1">
                <a:solidFill>
                  <a:srgbClr val="101010"/>
                </a:solidFill>
              </a:rPr>
              <a:t>分析单元：从边到 L1 pair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ED3406-E6A1-43B8-98B4-4A1ACA1A6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5238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35353"/>
                </a:solidFill>
              </a:defRPr>
            </a:pPr>
            <a:r>
              <a:rPr sz="825">
                <a:solidFill>
                  <a:srgbClr val="535353"/>
                </a:solidFill>
              </a:rPr>
              <a:t>数据分组定义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DF3BC5-F747-4551-B828-FEC86AC0E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38225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DE87A1-DAC0-4704-AFE4-E9F934339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71625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1010"/>
                </a:solidFill>
              </a:defRPr>
            </a:pPr>
            <a:r>
              <a:rPr sz="2100" b="1">
                <a:solidFill>
                  <a:srgbClr val="101010"/>
                </a:solidFill>
              </a:rPr>
              <a:t>给定有向边  e = (u, r, v)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755CE5-D8FE-4A53-866B-74EBEE00E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86000"/>
            <a:ext cx="4953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01010"/>
                </a:solidFill>
              </a:defRPr>
            </a:pPr>
            <a:r>
              <a:rPr sz="1725">
                <a:solidFill>
                  <a:srgbClr val="101010"/>
                </a:solidFill>
              </a:rPr>
              <a:t>• 源节点 u 的真实 L1 标签：Oₛ</a:t>
            </a:r>
          </a:p>
          <a:p xmlns:a="http://schemas.openxmlformats.org/drawingml/2006/main">
            <a:pPr>
              <a:defRPr sz="1725">
                <a:solidFill>
                  <a:srgbClr val="101010"/>
                </a:solidFill>
              </a:defRPr>
            </a:pPr>
            <a:r>
              <a:rPr sz="1725">
                <a:solidFill>
                  <a:srgbClr val="101010"/>
                </a:solidFill>
              </a:rPr>
              <a:t>• 目标节点 v 的真实 L1 标签：Oₜ</a:t>
            </a:r>
          </a:p>
          <a:p xmlns:a="http://schemas.openxmlformats.org/drawingml/2006/main">
            <a:pPr>
              <a:defRPr sz="1725">
                <a:solidFill>
                  <a:srgbClr val="101010"/>
                </a:solidFill>
              </a:defRPr>
            </a:pPr>
            <a:r>
              <a:rPr sz="1725">
                <a:solidFill>
                  <a:srgbClr val="101010"/>
                </a:solidFill>
              </a:rPr>
              <a:t>• 热力图的列：目标标签 Oₜ</a:t>
            </a:r>
          </a:p>
          <a:p xmlns:a="http://schemas.openxmlformats.org/drawingml/2006/main">
            <a:pPr>
              <a:defRPr sz="1725">
                <a:solidFill>
                  <a:srgbClr val="101010"/>
                </a:solidFill>
              </a:defRPr>
            </a:pPr>
            <a:r>
              <a:rPr sz="1725">
                <a:solidFill>
                  <a:srgbClr val="101010"/>
                </a:solidFill>
              </a:rPr>
              <a:t>• 热力图的行：源标签 Oₛ 与关系 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6CC819-1CD6-426E-90EC-1ED3B1CC1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571625"/>
            <a:ext cx="4953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01010"/>
                </a:solidFill>
              </a:defRPr>
            </a:pPr>
            <a:r>
              <a:rPr sz="1650">
                <a:solidFill>
                  <a:srgbClr val="101010"/>
                </a:solidFill>
              </a:rPr>
              <a:t>同一 (Oₛ, r, Oₜ) 单元从所有满足条件的根节点和 seed 汇总。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>
                <a:solidFill>
                  <a:srgbClr val="101010"/>
                </a:solidFill>
              </a:defRPr>
            </a:pPr>
            <a:r>
              <a:rPr sz="1650">
                <a:solidFill>
                  <a:srgbClr val="101010"/>
                </a:solidFill>
              </a:rPr>
              <a:t>本次图表覆盖三类边量：</a:t>
            </a:r>
          </a:p>
          <a:p xmlns:a="http://schemas.openxmlformats.org/drawingml/2006/main">
            <a:pPr>
              <a:defRPr sz="1650">
                <a:solidFill>
                  <a:srgbClr val="101010"/>
                </a:solidFill>
              </a:defRPr>
            </a:pPr>
            <a:r>
              <a:rPr sz="1650">
                <a:solidFill>
                  <a:srgbClr val="101010"/>
                </a:solidFill>
              </a:rPr>
              <a:t>α（注意力）、αWᵣh（预聚合消息）、α·∂F/∂α（局部梯度归因）。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982811-1E57-4F74-B6F9-806E89673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9906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535353"/>
                </a:solidFill>
              </a:defRPr>
            </a:pPr>
            <a:r>
              <a:rPr sz="675">
                <a:solidFill>
                  <a:srgbClr val="535353"/>
                </a:solidFill>
              </a:rPr>
              <a:t>内部汇报 · RGAT one-hop · labeled roots · L1 layer 1 · seeds 42 / 43 / 44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C28166-6262-444E-9B69-CE9DDC7F3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35353"/>
                </a:solidFill>
              </a:defRPr>
            </a:pPr>
            <a:r>
              <a:rPr sz="825" b="1">
                <a:solidFill>
                  <a:srgbClr val="535353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211467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7E7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0E5087-FC60-4CF1-A5FF-93AC19168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8150"/>
            <a:ext cx="10096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01010"/>
                </a:solidFill>
              </a:defRPr>
            </a:pPr>
            <a:r>
              <a:rPr sz="2625" b="1">
                <a:solidFill>
                  <a:srgbClr val="101010"/>
                </a:solidFill>
              </a:rPr>
              <a:t>Raw attention 的提取方法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34EF43-EEF9-464B-9C2A-F6F575702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5238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35353"/>
                </a:solidFill>
              </a:defRPr>
            </a:pPr>
            <a:r>
              <a:rPr sz="825">
                <a:solidFill>
                  <a:srgbClr val="535353"/>
                </a:solidFill>
              </a:rPr>
              <a:t>α 的原始注意力统计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296BBF-6590-4064-849C-8E8BFD36D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38225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FFBE34-02DE-44F0-B25D-6116FD200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430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1010"/>
                </a:solidFill>
              </a:defRPr>
            </a:pPr>
            <a:r>
              <a:rPr sz="1575" b="1">
                <a:solidFill>
                  <a:srgbClr val="101010"/>
                </a:solidFill>
              </a:rPr>
              <a:t>ᾱₑ = (1 / 4) Σₕ αₑ,ₕ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6021FE-B7F1-414E-A8AE-7AD6F667B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66925"/>
            <a:ext cx="581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1010"/>
                </a:solidFill>
              </a:defRPr>
            </a:pPr>
            <a:r>
              <a:rPr sz="1575" b="1">
                <a:solidFill>
                  <a:srgbClr val="101010"/>
                </a:solidFill>
              </a:rPr>
              <a:t>Mᵢ(r, Oₛ) = Σₑ∈Eᵢ(r,Oₛ) ᾱₑ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E0776E-4831-4059-B7F5-95FAAC283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81300"/>
            <a:ext cx="10001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1010"/>
                </a:solidFill>
              </a:defRPr>
            </a:pPr>
            <a:r>
              <a:rPr sz="1575">
                <a:solidFill>
                  <a:srgbClr val="101010"/>
                </a:solidFill>
              </a:rPr>
              <a:t>α 是目标节点入边上的 softmax 权重。先对 4 个 head 求平均，再把同一 root 中、同一来源标签与关系的匹配边相加，得到该 root 的 attention mass Mᵢ。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F5FE46-6E09-4833-8913-350B015A6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624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1010"/>
                </a:solidFill>
              </a:defRPr>
            </a:pPr>
            <a:r>
              <a:rPr sz="1575">
                <a:solidFill>
                  <a:srgbClr val="101010"/>
                </a:solidFill>
              </a:rPr>
              <a:t>Raw 图：对“该 pair 在该 seed 中出现”的 root 取 Mᵢ 的条件均值；最后对 3 个 seed 等权平均。缺失 pair 不以 0 补入 raw 图。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5E50EF-851A-4CC7-BE36-6D55E8564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482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03030"/>
                </a:solidFill>
              </a:defRPr>
            </a:pPr>
            <a:r>
              <a:rPr sz="1650" b="1">
                <a:solidFill>
                  <a:srgbClr val="303030"/>
                </a:solidFill>
              </a:rPr>
              <a:t>因此 raw attention 表示的是组内匹配边的平均 α 总量（attention mass），而不是单条边的 α。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E50DB8-B73F-43F7-813C-ADB30CCE9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9906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535353"/>
                </a:solidFill>
              </a:defRPr>
            </a:pPr>
            <a:r>
              <a:rPr sz="675">
                <a:solidFill>
                  <a:srgbClr val="535353"/>
                </a:solidFill>
              </a:rPr>
              <a:t>内部汇报 · RGAT one-hop · labeled roots · L1 layer 1 · seeds 42 / 43 / 44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3FB2DF-A065-4F50-928F-B4F6FD3E4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35353"/>
                </a:solidFill>
              </a:defRPr>
            </a:pPr>
            <a:r>
              <a:rPr sz="825" b="1">
                <a:solidFill>
                  <a:srgbClr val="535353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8684827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7E7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13E765-1687-444C-8F84-755DBD2E6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8150"/>
            <a:ext cx="10096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01010"/>
                </a:solidFill>
              </a:defRPr>
            </a:pPr>
            <a:r>
              <a:rPr sz="2625" b="1">
                <a:solidFill>
                  <a:srgbClr val="101010"/>
                </a:solidFill>
              </a:rPr>
              <a:t>Raw attention：精确亲属关系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D7BAAF-B58B-43B6-AD8A-8BEBA692C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5238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35353"/>
                </a:solidFill>
              </a:defRPr>
            </a:pPr>
            <a:r>
              <a:rPr sz="825">
                <a:solidFill>
                  <a:srgbClr val="535353"/>
                </a:solidFill>
              </a:rPr>
              <a:t>精确亲属关系 · 5 ×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9ABB81-F533-4CEE-A1E5-E9BA8CF05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38225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0F75FA-7573-4CDB-BF22-7AA95DCCB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561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1010"/>
                </a:solidFill>
              </a:defRPr>
            </a:pPr>
            <a:r>
              <a:rPr sz="1575" b="1">
                <a:solidFill>
                  <a:srgbClr val="101010"/>
                </a:solidFill>
              </a:rPr>
              <a:t>单元格 = mean_seed[ mean_pair-present( Mᵢ(r, Oₛ) ) 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FF7A79-8742-4A87-9060-7DBE704CD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538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1010"/>
                </a:solidFill>
              </a:defRPr>
            </a:pPr>
            <a:r>
              <a:rPr sz="1500" b="1">
                <a:solidFill>
                  <a:srgbClr val="101010"/>
                </a:solidFill>
              </a:rPr>
              <a:t>统计口径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40CEA3-4E47-4CC8-B73E-EAD9F5185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5381625" cy="423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03030"/>
                </a:solidFill>
              </a:defRPr>
            </a:pPr>
            <a:r>
              <a:rPr sz="1350">
                <a:solidFill>
                  <a:srgbClr val="303030"/>
                </a:solidFill>
              </a:rPr>
              <a:t>• 关系行固定为 child、spouse、sibling、father、mother。</a:t>
            </a:r>
          </a:p>
          <a:p xmlns:a="http://schemas.openxmlformats.org/drawingml/2006/main">
            <a:pPr>
              <a:defRPr sz="1350">
                <a:solidFill>
                  <a:srgbClr val="303030"/>
                </a:solidFill>
              </a:defRPr>
            </a:pPr>
            <a:r>
              <a:rPr sz="1350">
                <a:solidFill>
                  <a:srgbClr val="303030"/>
                </a:solidFill>
              </a:rPr>
              <a:t>• 每个单元只汇总该精确关系与该来源标签的匹配边。</a:t>
            </a:r>
          </a:p>
          <a:p xmlns:a="http://schemas.openxmlformats.org/drawingml/2006/main">
            <a:pPr>
              <a:defRPr sz="1350">
                <a:solidFill>
                  <a:srgbClr val="303030"/>
                </a:solidFill>
              </a:defRPr>
            </a:pPr>
            <a:r>
              <a:rPr sz="1350">
                <a:solidFill>
                  <a:srgbClr val="303030"/>
                </a:solidFill>
              </a:rPr>
              <a:t>• 每个 root 先合并相同关系/来源的可见边，再做条件均值。</a:t>
            </a:r>
          </a:p>
          <a:p xmlns:a="http://schemas.openxmlformats.org/drawingml/2006/main">
            <a:pPr>
              <a:defRPr sz="1350">
                <a:solidFill>
                  <a:srgbClr val="303030"/>
                </a:solidFill>
              </a:defRPr>
            </a:pPr>
            <a:r>
              <a:rPr sz="1350">
                <a:solidFill>
                  <a:srgbClr val="303030"/>
                </a:solidFill>
              </a:rPr>
              <a:t>• 单位：attention mass（无百分号）。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42797246b84bd3"/>
          <a:stretch xmlns:a="http://schemas.openxmlformats.org/drawingml/2006/main"/>
        </p:blipFill>
        <p:spPr>
          <a:xfrm xmlns:a="http://schemas.openxmlformats.org/drawingml/2006/main">
            <a:off x="7651634" y="1181100"/>
            <a:ext cx="2841857" cy="52006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F9A5B9-E6F0-4A98-8122-E8A138684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9906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535353"/>
                </a:solidFill>
              </a:defRPr>
            </a:pPr>
            <a:r>
              <a:rPr sz="675">
                <a:solidFill>
                  <a:srgbClr val="535353"/>
                </a:solidFill>
              </a:rPr>
              <a:t>内部汇报 · RGAT one-hop · labeled roots · L1 layer 1 · seeds 42 / 43 / 44 · 01_raw_attention_exact_kinship.png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E3032B-13B0-4C51-9FBF-21A4BA46F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35353"/>
                </a:solidFill>
              </a:defRPr>
            </a:pPr>
            <a:r>
              <a:rPr sz="825" b="1">
                <a:solidFill>
                  <a:srgbClr val="535353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6183948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7E7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11E6EE-C080-4AE9-A643-D784226F7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8150"/>
            <a:ext cx="10096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01010"/>
                </a:solidFill>
              </a:defRPr>
            </a:pPr>
            <a:r>
              <a:rPr sz="2625" b="1">
                <a:solidFill>
                  <a:srgbClr val="101010"/>
                </a:solidFill>
              </a:rPr>
              <a:t>Raw attention：relation family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F56172-276B-45A5-8040-0900EC670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5238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35353"/>
                </a:solidFill>
              </a:defRPr>
            </a:pPr>
            <a:r>
              <a:rPr sz="825">
                <a:solidFill>
                  <a:srgbClr val="535353"/>
                </a:solidFill>
              </a:rPr>
              <a:t>relation family · 5 ×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C4BD87-F689-440D-A81D-B723FDE75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38225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20A113-954C-450A-826F-BABFF013D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1010"/>
                </a:solidFill>
              </a:defRPr>
            </a:pPr>
            <a:r>
              <a:rPr sz="1575" b="1">
                <a:solidFill>
                  <a:srgbClr val="101010"/>
                </a:solidFill>
              </a:rPr>
              <a:t>单元格 = n 加权的精确关系 raw mean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7ED27C-0C50-43DE-A3E7-95B207741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4810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1010"/>
                </a:solidFill>
              </a:defRPr>
            </a:pPr>
            <a:r>
              <a:rPr sz="1500" b="1">
                <a:solidFill>
                  <a:srgbClr val="101010"/>
                </a:solidFill>
              </a:rPr>
              <a:t>统计口径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6ED032-59FD-456D-B8C6-4AD6B4A3C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4810125" cy="423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03030"/>
                </a:solidFill>
              </a:defRPr>
            </a:pPr>
            <a:r>
              <a:rPr sz="1350">
                <a:solidFill>
                  <a:srgbClr val="303030"/>
                </a:solidFill>
              </a:rPr>
              <a:t>• kinship：五种亲属方向及其 stored reverse directions。</a:t>
            </a:r>
          </a:p>
          <a:p xmlns:a="http://schemas.openxmlformats.org/drawingml/2006/main">
            <a:pPr>
              <a:defRPr sz="1350">
                <a:solidFill>
                  <a:srgbClr val="303030"/>
                </a:solidFill>
              </a:defRPr>
            </a:pPr>
            <a:r>
              <a:rPr sz="1350">
                <a:solidFill>
                  <a:srgbClr val="303030"/>
                </a:solidFill>
              </a:rPr>
              <a:t>• nonkinship：其余所有精确关系。</a:t>
            </a:r>
          </a:p>
          <a:p xmlns:a="http://schemas.openxmlformats.org/drawingml/2006/main">
            <a:pPr>
              <a:defRPr sz="1350">
                <a:solidFill>
                  <a:srgbClr val="303030"/>
                </a:solidFill>
              </a:defRPr>
            </a:pPr>
            <a:r>
              <a:rPr sz="1350">
                <a:solidFill>
                  <a:srgbClr val="303030"/>
                </a:solidFill>
              </a:rPr>
              <a:t>• family 图按匹配 root–relation 数量 n 加权合并精确关系单元。</a:t>
            </a:r>
          </a:p>
          <a:p xmlns:a="http://schemas.openxmlformats.org/drawingml/2006/main">
            <a:pPr>
              <a:defRPr sz="1350">
                <a:solidFill>
                  <a:srgbClr val="303030"/>
                </a:solidFill>
              </a:defRPr>
            </a:pPr>
            <a:r>
              <a:rPr sz="1350">
                <a:solidFill>
                  <a:srgbClr val="303030"/>
                </a:solidFill>
              </a:rPr>
              <a:t>• 单位仍为 attention mass（无百分号）。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d8a62219e14292"/>
          <a:stretch xmlns:a="http://schemas.openxmlformats.org/drawingml/2006/main"/>
        </p:blipFill>
        <p:spPr>
          <a:xfrm xmlns:a="http://schemas.openxmlformats.org/drawingml/2006/main">
            <a:off x="6688229" y="1495425"/>
            <a:ext cx="3825692" cy="39052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6666BB-A76B-4FB5-94AC-0E4098D7C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9906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535353"/>
                </a:solidFill>
              </a:defRPr>
            </a:pPr>
            <a:r>
              <a:rPr sz="675">
                <a:solidFill>
                  <a:srgbClr val="535353"/>
                </a:solidFill>
              </a:rPr>
              <a:t>内部汇报 · RGAT one-hop · labeled roots · L1 layer 1 · seeds 42 / 43 / 44 · 02_raw_attention_relation_family.png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3DC852-96C1-4BC8-AA88-619F06094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35353"/>
                </a:solidFill>
              </a:defRPr>
            </a:pPr>
            <a:r>
              <a:rPr sz="825" b="1">
                <a:solidFill>
                  <a:srgbClr val="535353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8789994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7E7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AD8F5C-7D41-4A7F-9D7D-F04E38C9C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8150"/>
            <a:ext cx="10096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01010"/>
                </a:solidFill>
              </a:defRPr>
            </a:pPr>
            <a:r>
              <a:rPr sz="2625" b="1">
                <a:solidFill>
                  <a:srgbClr val="101010"/>
                </a:solidFill>
              </a:rPr>
              <a:t>Attention budget share：精确亲属关系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EF3FB7-A74A-42A0-ACC5-0A52BABCE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5238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35353"/>
                </a:solidFill>
              </a:defRPr>
            </a:pPr>
            <a:r>
              <a:rPr sz="825">
                <a:solidFill>
                  <a:srgbClr val="535353"/>
                </a:solidFill>
              </a:rPr>
              <a:t>精确亲属关系 · 5 ×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279228-BBBB-4266-90F9-E4431C4AB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38225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038AA5-26E9-4E94-939D-012028F1E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561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1010"/>
                </a:solidFill>
              </a:defRPr>
            </a:pPr>
            <a:r>
              <a:rPr sz="1575" b="1">
                <a:solidFill>
                  <a:srgbClr val="101010"/>
                </a:solidFill>
              </a:rPr>
              <a:t>Share = 100 × Σᵢ Mᵢ(r,Oₛ) / B₍q,t₎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7D3A0F-213B-4D53-85D6-60B0EB8FD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538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1010"/>
                </a:solidFill>
              </a:defRPr>
            </a:pPr>
            <a:r>
              <a:rPr sz="1500" b="1">
                <a:solidFill>
                  <a:srgbClr val="101010"/>
                </a:solidFill>
              </a:rPr>
              <a:t>统计口径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22AA1F-C2A9-4246-847D-6E9C665A3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5381625" cy="423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03030"/>
                </a:solidFill>
              </a:defRPr>
            </a:pPr>
            <a:r>
              <a:rPr sz="1350">
                <a:solidFill>
                  <a:srgbClr val="303030"/>
                </a:solidFill>
              </a:rPr>
              <a:t>• 分母 B₍q,t₎：seed q 中全部目标标签为 t 的 root 的总 attention budget。</a:t>
            </a:r>
          </a:p>
          <a:p xmlns:a="http://schemas.openxmlformats.org/drawingml/2006/main">
            <a:pPr>
              <a:defRPr sz="1350">
                <a:solidFill>
                  <a:srgbClr val="303030"/>
                </a:solidFill>
              </a:defRPr>
            </a:pPr>
            <a:r>
              <a:rPr sz="1350">
                <a:solidFill>
                  <a:srgbClr val="303030"/>
                </a:solidFill>
              </a:rPr>
              <a:t>• 每个 root 的全部入边均参与分母；匹配 pair 缺失时，该 root 对分子贡献 0。</a:t>
            </a:r>
          </a:p>
          <a:p xmlns:a="http://schemas.openxmlformats.org/drawingml/2006/main">
            <a:pPr>
              <a:defRPr sz="1350">
                <a:solidFill>
                  <a:srgbClr val="303030"/>
                </a:solidFill>
              </a:defRPr>
            </a:pPr>
            <a:r>
              <a:rPr sz="1350">
                <a:solidFill>
                  <a:srgbClr val="303030"/>
                </a:solidFill>
              </a:rPr>
              <a:t>• 先在每个 seed 内计算百分比，再对 3 个 seed 等权平均。</a:t>
            </a:r>
          </a:p>
          <a:p xmlns:a="http://schemas.openxmlformats.org/drawingml/2006/main">
            <a:pPr>
              <a:defRPr sz="1350">
                <a:solidFill>
                  <a:srgbClr val="303030"/>
                </a:solidFill>
              </a:defRPr>
            </a:pPr>
            <a:r>
              <a:rPr sz="1350">
                <a:solidFill>
                  <a:srgbClr val="303030"/>
                </a:solidFill>
              </a:rPr>
              <a:t>• 单位：目标标签 t 的 attention budget 百分比。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5c4f8868474419"/>
          <a:stretch xmlns:a="http://schemas.openxmlformats.org/drawingml/2006/main"/>
        </p:blipFill>
        <p:spPr>
          <a:xfrm xmlns:a="http://schemas.openxmlformats.org/drawingml/2006/main">
            <a:off x="7237946" y="1181100"/>
            <a:ext cx="3669233" cy="52006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3F7D52-A1C6-49B1-85FC-09C49F16E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9906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535353"/>
                </a:solidFill>
              </a:defRPr>
            </a:pPr>
            <a:r>
              <a:rPr sz="675">
                <a:solidFill>
                  <a:srgbClr val="535353"/>
                </a:solidFill>
              </a:rPr>
              <a:t>内部汇报 · RGAT one-hop · labeled roots · L1 layer 1 · seeds 42 / 43 / 44 · 03_attention_budget_share_exact_kinship.png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DAE2CF-DDC6-4E30-97CC-A988505CA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35353"/>
                </a:solidFill>
              </a:defRPr>
            </a:pPr>
            <a:r>
              <a:rPr sz="825" b="1">
                <a:solidFill>
                  <a:srgbClr val="535353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082979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E7E7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AFB7E0-2CBB-4DB3-AE51-8D3411F33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8150"/>
            <a:ext cx="10096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01010"/>
                </a:solidFill>
              </a:defRPr>
            </a:pPr>
            <a:r>
              <a:rPr sz="2625" b="1">
                <a:solidFill>
                  <a:srgbClr val="101010"/>
                </a:solidFill>
              </a:rPr>
              <a:t>Attention budget share：relation family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5ABD3B-5AC0-44F0-B5D5-91A9A0635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5238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35353"/>
                </a:solidFill>
              </a:defRPr>
            </a:pPr>
            <a:r>
              <a:rPr sz="825">
                <a:solidFill>
                  <a:srgbClr val="535353"/>
                </a:solidFill>
              </a:rPr>
              <a:t>relation family · 5 ×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ACF140-4320-4506-91CD-38B56501E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38225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EFA3F6-B3B3-48E7-A038-9FB157518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1010"/>
                </a:solidFill>
              </a:defRPr>
            </a:pPr>
            <a:r>
              <a:rPr sz="1575" b="1">
                <a:solidFill>
                  <a:srgbClr val="101010"/>
                </a:solidFill>
              </a:rPr>
              <a:t>Share_family = 100 × Σᵢ Σᵣ∈family Mᵢ(r,Oₛ) / B₍q,t₎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E269AD-B295-4939-972D-0AB2A989A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4810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1010"/>
                </a:solidFill>
              </a:defRPr>
            </a:pPr>
            <a:r>
              <a:rPr sz="1500" b="1">
                <a:solidFill>
                  <a:srgbClr val="101010"/>
                </a:solidFill>
              </a:rPr>
              <a:t>统计口径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422CEA-AE77-4AF8-9B29-472ED15FC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4810125" cy="423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03030"/>
                </a:solidFill>
              </a:defRPr>
            </a:pPr>
            <a:r>
              <a:rPr sz="1350">
                <a:solidFill>
                  <a:srgbClr val="303030"/>
                </a:solidFill>
              </a:rPr>
              <a:t>• 对同一个 root，先将 family 内的精确关系 attention mass 相加，再除以完整 attention budget。</a:t>
            </a:r>
          </a:p>
          <a:p xmlns:a="http://schemas.openxmlformats.org/drawingml/2006/main">
            <a:pPr>
              <a:defRPr sz="1350">
                <a:solidFill>
                  <a:srgbClr val="303030"/>
                </a:solidFill>
              </a:defRPr>
            </a:pPr>
            <a:r>
              <a:rPr sz="1350">
                <a:solidFill>
                  <a:srgbClr val="303030"/>
                </a:solidFill>
              </a:rPr>
              <a:t>• kinship 与 nonkinship 的定义和 raw family 图一致。</a:t>
            </a:r>
          </a:p>
          <a:p xmlns:a="http://schemas.openxmlformats.org/drawingml/2006/main">
            <a:pPr>
              <a:defRPr sz="1350">
                <a:solidFill>
                  <a:srgbClr val="303030"/>
                </a:solidFill>
              </a:defRPr>
            </a:pPr>
            <a:r>
              <a:rPr sz="1350">
                <a:solidFill>
                  <a:srgbClr val="303030"/>
                </a:solidFill>
              </a:rPr>
              <a:t>• 未展示的 unlabeled source 仍保留在完整分母中。</a:t>
            </a:r>
          </a:p>
          <a:p xmlns:a="http://schemas.openxmlformats.org/drawingml/2006/main">
            <a:pPr>
              <a:defRPr sz="1350">
                <a:solidFill>
                  <a:srgbClr val="303030"/>
                </a:solidFill>
              </a:defRPr>
            </a:pPr>
            <a:r>
              <a:rPr sz="1350">
                <a:solidFill>
                  <a:srgbClr val="303030"/>
                </a:solidFill>
              </a:rPr>
              <a:t>• 因此可见单元不要求合计为 100%。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64df1faf55454d"/>
          <a:stretch xmlns:a="http://schemas.openxmlformats.org/drawingml/2006/main"/>
        </p:blipFill>
        <p:spPr>
          <a:xfrm xmlns:a="http://schemas.openxmlformats.org/drawingml/2006/main">
            <a:off x="6131324" y="1495425"/>
            <a:ext cx="4939501" cy="39052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F68B40-C7F8-4246-90FC-E23C0920C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9906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535353"/>
                </a:solidFill>
              </a:defRPr>
            </a:pPr>
            <a:r>
              <a:rPr sz="675">
                <a:solidFill>
                  <a:srgbClr val="535353"/>
                </a:solidFill>
              </a:rPr>
              <a:t>内部汇报 · RGAT one-hop · labeled roots · L1 layer 1 · seeds 42 / 43 / 44 · 04_attention_budget_share_relation_family.png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DB9EA5-E163-4CCB-AB3E-CE8454F47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35353"/>
                </a:solidFill>
              </a:defRPr>
            </a:pPr>
            <a:r>
              <a:rPr sz="825" b="1">
                <a:solidFill>
                  <a:srgbClr val="535353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4206524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E7E7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02EAAC-C78A-4C5E-B263-B86BDF939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8150"/>
            <a:ext cx="10096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01010"/>
                </a:solidFill>
              </a:defRPr>
            </a:pPr>
            <a:r>
              <a:rPr sz="2625" b="1">
                <a:solidFill>
                  <a:srgbClr val="101010"/>
                </a:solidFill>
              </a:rPr>
              <a:t>Raw message：预聚合消息的 L2 幅度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26C51D-FDB8-41B2-A12F-A5D90B612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5238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35353"/>
                </a:solidFill>
              </a:defRPr>
            </a:pPr>
            <a:r>
              <a:rPr sz="825">
                <a:solidFill>
                  <a:srgbClr val="535353"/>
                </a:solidFill>
              </a:rPr>
              <a:t>精确亲属关系 · 5 ×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A016AE-E784-46A4-B757-5C330C781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38225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321BE8-BA80-47B9-87BA-B48C24134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561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1010"/>
                </a:solidFill>
              </a:defRPr>
            </a:pPr>
            <a:r>
              <a:rPr sz="1575" b="1">
                <a:solidFill>
                  <a:srgbClr val="101010"/>
                </a:solidFill>
              </a:rPr>
              <a:t>cₑ,ₕ = αₑ,ₕ · (hᵤWᵣ)ₕ；Aᵢ = Σₑ∈Eᵢ || meanₕ(cₑ,ₕ) ||₂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6A99DE-FD52-4CF8-A1B5-D9D4B7A23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538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1010"/>
                </a:solidFill>
              </a:defRPr>
            </a:pPr>
            <a:r>
              <a:rPr sz="1500" b="1">
                <a:solidFill>
                  <a:srgbClr val="101010"/>
                </a:solidFill>
              </a:rPr>
              <a:t>统计口径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33451F-9AA7-455C-9F1B-3B7E436B0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5381625" cy="423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03030"/>
                </a:solidFill>
              </a:defRPr>
            </a:pPr>
            <a:r>
              <a:rPr sz="1350">
                <a:solidFill>
                  <a:srgbClr val="303030"/>
                </a:solidFill>
              </a:rPr>
              <a:t>• hᵤWᵣ 是源节点经关系 r 变换后的消息向量；α 对其逐元素缩放。</a:t>
            </a:r>
          </a:p>
          <a:p xmlns:a="http://schemas.openxmlformats.org/drawingml/2006/main">
            <a:pPr>
              <a:defRPr sz="1350">
                <a:solidFill>
                  <a:srgbClr val="303030"/>
                </a:solidFill>
              </a:defRPr>
            </a:pPr>
            <a:r>
              <a:rPr sz="1350">
                <a:solidFill>
                  <a:srgbClr val="303030"/>
                </a:solidFill>
              </a:rPr>
              <a:t>• L2 表示向量欧氏范数，不是第 2 层；这里的模型层仍是 L1。</a:t>
            </a:r>
          </a:p>
          <a:p xmlns:a="http://schemas.openxmlformats.org/drawingml/2006/main">
            <a:pPr>
              <a:defRPr sz="1350">
                <a:solidFill>
                  <a:srgbClr val="303030"/>
                </a:solidFill>
              </a:defRPr>
            </a:pPr>
            <a:r>
              <a:rPr sz="1350">
                <a:solidFill>
                  <a:srgbClr val="303030"/>
                </a:solidFill>
              </a:rPr>
              <a:t>• raw message 使用 absolute_message_l2_sum：逐边取幅度再相加，避免不同方向向量相互抵消。</a:t>
            </a:r>
          </a:p>
          <a:p xmlns:a="http://schemas.openxmlformats.org/drawingml/2006/main">
            <a:pPr>
              <a:defRPr sz="1350">
                <a:solidFill>
                  <a:srgbClr val="303030"/>
                </a:solidFill>
              </a:defRPr>
            </a:pPr>
            <a:r>
              <a:rPr sz="1350">
                <a:solidFill>
                  <a:srgbClr val="303030"/>
                </a:solidFill>
              </a:rPr>
              <a:t>• 随后按 raw attention 相同的条件均值规则汇总。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63b67657704891"/>
          <a:stretch xmlns:a="http://schemas.openxmlformats.org/drawingml/2006/main"/>
        </p:blipFill>
        <p:spPr>
          <a:xfrm xmlns:a="http://schemas.openxmlformats.org/drawingml/2006/main">
            <a:off x="7388903" y="1181100"/>
            <a:ext cx="3367318" cy="52006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4A0F36-FAEA-477C-9F4A-C13E0C59C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9906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535353"/>
                </a:solidFill>
              </a:defRPr>
            </a:pPr>
            <a:r>
              <a:rPr sz="675">
                <a:solidFill>
                  <a:srgbClr val="535353"/>
                </a:solidFill>
              </a:rPr>
              <a:t>内部汇报 · RGAT one-hop · labeled roots · L1 layer 1 · seeds 42 / 43 / 44 · 05_raw_message_absolute_l2_exact_kinship.png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C6D3FD-0770-4D05-A461-D0B6FFB3E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35353"/>
                </a:solidFill>
              </a:defRPr>
            </a:pPr>
            <a:r>
              <a:rPr sz="825" b="1">
                <a:solidFill>
                  <a:srgbClr val="535353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57796329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E7E7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965437-87EF-4A55-B45C-4C26F9524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8150"/>
            <a:ext cx="10096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01010"/>
                </a:solidFill>
              </a:defRPr>
            </a:pPr>
            <a:r>
              <a:rPr sz="2625" b="1">
                <a:solidFill>
                  <a:srgbClr val="101010"/>
                </a:solidFill>
              </a:rPr>
              <a:t>Raw message：relation family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E4050F-ED3A-4FA5-ACA5-114C7B212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5238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35353"/>
                </a:solidFill>
              </a:defRPr>
            </a:pPr>
            <a:r>
              <a:rPr sz="825">
                <a:solidFill>
                  <a:srgbClr val="535353"/>
                </a:solidFill>
              </a:rPr>
              <a:t>relation family · 5 ×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4FB029-3E25-4275-A6FC-593E5F936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38225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A291B0-9C43-4657-BE61-ECCD8C1C2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1010"/>
                </a:solidFill>
              </a:defRPr>
            </a:pPr>
            <a:r>
              <a:rPr sz="1575" b="1">
                <a:solidFill>
                  <a:srgbClr val="101010"/>
                </a:solidFill>
              </a:rPr>
              <a:t>family raw = n 加权的精确关系 Aᵢ 条件均值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D20023-D718-4AF3-8E6B-E90BDD547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4810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1010"/>
                </a:solidFill>
              </a:defRPr>
            </a:pPr>
            <a:r>
              <a:rPr sz="1500" b="1">
                <a:solidFill>
                  <a:srgbClr val="101010"/>
                </a:solidFill>
              </a:rPr>
              <a:t>统计口径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94BE39-E260-4AD5-8AC1-5C353E133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4810125" cy="423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03030"/>
                </a:solidFill>
              </a:defRPr>
            </a:pPr>
            <a:r>
              <a:rPr sz="1350">
                <a:solidFill>
                  <a:srgbClr val="303030"/>
                </a:solidFill>
              </a:rPr>
              <a:t>• 将同一 family 的精确关系结果按匹配 root–relation 数 n 汇总。</a:t>
            </a:r>
          </a:p>
          <a:p xmlns:a="http://schemas.openxmlformats.org/drawingml/2006/main">
            <a:pPr>
              <a:defRPr sz="1350">
                <a:solidFill>
                  <a:srgbClr val="303030"/>
                </a:solidFill>
              </a:defRPr>
            </a:pPr>
            <a:r>
              <a:rPr sz="1350">
                <a:solidFill>
                  <a:srgbClr val="303030"/>
                </a:solidFill>
              </a:rPr>
              <a:t>• kinship 包含五个亲属方向及 stored reverse directions。</a:t>
            </a:r>
          </a:p>
          <a:p xmlns:a="http://schemas.openxmlformats.org/drawingml/2006/main">
            <a:pPr>
              <a:defRPr sz="1350">
                <a:solidFill>
                  <a:srgbClr val="303030"/>
                </a:solidFill>
              </a:defRPr>
            </a:pPr>
            <a:r>
              <a:rPr sz="1350">
                <a:solidFill>
                  <a:srgbClr val="303030"/>
                </a:solidFill>
              </a:rPr>
              <a:t>• nonkinship 聚合其余精确关系。</a:t>
            </a:r>
          </a:p>
          <a:p xmlns:a="http://schemas.openxmlformats.org/drawingml/2006/main">
            <a:pPr>
              <a:defRPr sz="1350">
                <a:solidFill>
                  <a:srgbClr val="303030"/>
                </a:solidFill>
              </a:defRPr>
            </a:pPr>
            <a:r>
              <a:rPr sz="1350">
                <a:solidFill>
                  <a:srgbClr val="303030"/>
                </a:solidFill>
              </a:rPr>
              <a:t>• 单位：预聚合、注意力加权消息的 L2 幅度（无百分号）。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012b0641094734"/>
          <a:stretch xmlns:a="http://schemas.openxmlformats.org/drawingml/2006/main"/>
        </p:blipFill>
        <p:spPr>
          <a:xfrm xmlns:a="http://schemas.openxmlformats.org/drawingml/2006/main">
            <a:off x="6425342" y="1495425"/>
            <a:ext cx="4351465" cy="39052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B13724-1253-45C0-84F9-6C32D842F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9906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535353"/>
                </a:solidFill>
              </a:defRPr>
            </a:pPr>
            <a:r>
              <a:rPr sz="675">
                <a:solidFill>
                  <a:srgbClr val="535353"/>
                </a:solidFill>
              </a:rPr>
              <a:t>内部汇报 · RGAT one-hop · labeled roots · L1 layer 1 · seeds 42 / 43 / 44 · 06_raw_message_absolute_l2_relation_family.png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33FE30-CF04-4031-A591-75D41912F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35353"/>
                </a:solidFill>
              </a:defRPr>
            </a:pPr>
            <a:r>
              <a:rPr sz="825" b="1">
                <a:solidFill>
                  <a:srgbClr val="535353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70822188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E7E7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D35F09-D319-4F79-B265-F4D3D3A6C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8150"/>
            <a:ext cx="10096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01010"/>
                </a:solidFill>
              </a:defRPr>
            </a:pPr>
            <a:r>
              <a:rPr sz="2625" b="1">
                <a:solidFill>
                  <a:srgbClr val="101010"/>
                </a:solidFill>
              </a:rPr>
              <a:t>Message budget share：精确亲属关系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ADD0B2-7FD6-465A-A1CE-EBD020F3C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5238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35353"/>
                </a:solidFill>
              </a:defRPr>
            </a:pPr>
            <a:r>
              <a:rPr sz="825">
                <a:solidFill>
                  <a:srgbClr val="535353"/>
                </a:solidFill>
              </a:rPr>
              <a:t>精确亲属关系 · 5 ×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D82537-4E59-4CCC-A8F8-06E5057ED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38225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8A8686-6761-400C-AB91-11EA286B1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561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1010"/>
                </a:solidFill>
              </a:defRPr>
            </a:pPr>
            <a:r>
              <a:rPr sz="1575" b="1">
                <a:solidFill>
                  <a:srgbClr val="101010"/>
                </a:solidFill>
              </a:rPr>
              <a:t>Share = 100 × Σᵢ Aᵢ(r,Oₛ) / Q₍q,t₎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1BC61C-33B2-4356-8FB7-A15350E37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538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1010"/>
                </a:solidFill>
              </a:defRPr>
            </a:pPr>
            <a:r>
              <a:rPr sz="1500" b="1">
                <a:solidFill>
                  <a:srgbClr val="101010"/>
                </a:solidFill>
              </a:rPr>
              <a:t>统计口径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97EE94-C6F9-4A3E-865C-3439A5C9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5381625" cy="423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03030"/>
                </a:solidFill>
              </a:defRPr>
            </a:pPr>
            <a:r>
              <a:rPr sz="1350">
                <a:solidFill>
                  <a:srgbClr val="303030"/>
                </a:solidFill>
              </a:rPr>
              <a:t>• Aᵢ 为 matching edges 的 absolute_message_l2_sum。</a:t>
            </a:r>
          </a:p>
          <a:p xmlns:a="http://schemas.openxmlformats.org/drawingml/2006/main">
            <a:pPr>
              <a:defRPr sz="1350">
                <a:solidFill>
                  <a:srgbClr val="303030"/>
                </a:solidFill>
              </a:defRPr>
            </a:pPr>
            <a:r>
              <a:rPr sz="1350">
                <a:solidFill>
                  <a:srgbClr val="303030"/>
                </a:solidFill>
              </a:rPr>
              <a:t>• 分母 Q₍q,t₎：seed q 内全部目标标签为 t 的 root 的 typed_absolute_message_l2_sum 总和。</a:t>
            </a:r>
          </a:p>
          <a:p xmlns:a="http://schemas.openxmlformats.org/drawingml/2006/main">
            <a:pPr>
              <a:defRPr sz="1350">
                <a:solidFill>
                  <a:srgbClr val="303030"/>
                </a:solidFill>
              </a:defRPr>
            </a:pPr>
            <a:r>
              <a:rPr sz="1350">
                <a:solidFill>
                  <a:srgbClr val="303030"/>
                </a:solidFill>
              </a:rPr>
              <a:t>• 每条入边按其预聚合消息 L2 幅度进入分母；缺失 pair 对分子为 0。</a:t>
            </a:r>
          </a:p>
          <a:p xmlns:a="http://schemas.openxmlformats.org/drawingml/2006/main">
            <a:pPr>
              <a:defRPr sz="1350">
                <a:solidFill>
                  <a:srgbClr val="303030"/>
                </a:solidFill>
              </a:defRPr>
            </a:pPr>
            <a:r>
              <a:rPr sz="1350">
                <a:solidFill>
                  <a:srgbClr val="303030"/>
                </a:solidFill>
              </a:rPr>
              <a:t>• 单位：目标标签 t 的消息幅度 budget 百分比。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a575eba0854db0"/>
          <a:stretch xmlns:a="http://schemas.openxmlformats.org/drawingml/2006/main"/>
        </p:blipFill>
        <p:spPr>
          <a:xfrm xmlns:a="http://schemas.openxmlformats.org/drawingml/2006/main">
            <a:off x="7119749" y="1181100"/>
            <a:ext cx="3905626" cy="52006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97FB6F-7A14-49FD-BE8F-D5CD0D2EE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9906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535353"/>
                </a:solidFill>
              </a:defRPr>
            </a:pPr>
            <a:r>
              <a:rPr sz="675">
                <a:solidFill>
                  <a:srgbClr val="535353"/>
                </a:solidFill>
              </a:rPr>
              <a:t>内部汇报 · RGAT one-hop · labeled roots · L1 layer 1 · seeds 42 / 43 / 44 · 07_message_budget_share_exact_kinship.png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B64325-8F61-4DD2-9336-F15FBAEBF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35353"/>
                </a:solidFill>
              </a:defRPr>
            </a:pPr>
            <a:r>
              <a:rPr sz="825" b="1">
                <a:solidFill>
                  <a:srgbClr val="535353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9221672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E7E7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B6A5E9-4090-4F1F-91D0-D1B5D2DD5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8150"/>
            <a:ext cx="10096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01010"/>
                </a:solidFill>
              </a:defRPr>
            </a:pPr>
            <a:r>
              <a:rPr sz="2625" b="1">
                <a:solidFill>
                  <a:srgbClr val="101010"/>
                </a:solidFill>
              </a:rPr>
              <a:t>Message budget share：relation family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CA86E0-D97D-435A-9400-F033E3D60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5238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35353"/>
                </a:solidFill>
              </a:defRPr>
            </a:pPr>
            <a:r>
              <a:rPr sz="825">
                <a:solidFill>
                  <a:srgbClr val="535353"/>
                </a:solidFill>
              </a:rPr>
              <a:t>relation family · 5 ×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9B4250-473B-4C3D-9219-7C5745F10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38225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E21472-8FD8-4C22-A37A-B58221FD1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1010"/>
                </a:solidFill>
              </a:defRPr>
            </a:pPr>
            <a:r>
              <a:rPr sz="1575" b="1">
                <a:solidFill>
                  <a:srgbClr val="101010"/>
                </a:solidFill>
              </a:rPr>
              <a:t>Share_family = 100 × Σᵢ Σᵣ∈family Aᵢ(r,Oₛ) / Q₍q,t₎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F3429B-D237-496D-90EB-26A89057E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4810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1010"/>
                </a:solidFill>
              </a:defRPr>
            </a:pPr>
            <a:r>
              <a:rPr sz="1500" b="1">
                <a:solidFill>
                  <a:srgbClr val="101010"/>
                </a:solidFill>
              </a:rPr>
              <a:t>统计口径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676829-BB68-43D1-97CE-A1F761BD4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4810125" cy="423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03030"/>
                </a:solidFill>
              </a:defRPr>
            </a:pPr>
            <a:r>
              <a:rPr sz="1350">
                <a:solidFill>
                  <a:srgbClr val="303030"/>
                </a:solidFill>
              </a:rPr>
              <a:t>• 先将 root 内 family 的逐边绝对消息幅度相加。</a:t>
            </a:r>
          </a:p>
          <a:p xmlns:a="http://schemas.openxmlformats.org/drawingml/2006/main">
            <a:pPr>
              <a:defRPr sz="1350">
                <a:solidFill>
                  <a:srgbClr val="303030"/>
                </a:solidFill>
              </a:defRPr>
            </a:pPr>
            <a:r>
              <a:rPr sz="1350">
                <a:solidFill>
                  <a:srgbClr val="303030"/>
                </a:solidFill>
              </a:rPr>
              <a:t>• 再用目标标签 t 的完整 typed absolute-message budget 归一化。</a:t>
            </a:r>
          </a:p>
          <a:p xmlns:a="http://schemas.openxmlformats.org/drawingml/2006/main">
            <a:pPr>
              <a:defRPr sz="1350">
                <a:solidFill>
                  <a:srgbClr val="303030"/>
                </a:solidFill>
              </a:defRPr>
            </a:pPr>
            <a:r>
              <a:rPr sz="1350">
                <a:solidFill>
                  <a:srgbClr val="303030"/>
                </a:solidFill>
              </a:rPr>
              <a:t>• 未展示的来源类别仍保留在分母，因此显示单元不要求合计为 100%。</a:t>
            </a:r>
          </a:p>
          <a:p xmlns:a="http://schemas.openxmlformats.org/drawingml/2006/main">
            <a:pPr>
              <a:defRPr sz="1350">
                <a:solidFill>
                  <a:srgbClr val="303030"/>
                </a:solidFill>
              </a:defRPr>
            </a:pPr>
            <a:r>
              <a:rPr sz="1350">
                <a:solidFill>
                  <a:srgbClr val="303030"/>
                </a:solidFill>
              </a:rPr>
              <a:t>• 这与已有 message_contribution_l2_share 不同：本图的归一化在目标标签总体上进行。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5edecd0c3c4be9"/>
          <a:stretch xmlns:a="http://schemas.openxmlformats.org/drawingml/2006/main"/>
        </p:blipFill>
        <p:spPr>
          <a:xfrm xmlns:a="http://schemas.openxmlformats.org/drawingml/2006/main">
            <a:off x="6062144" y="1495425"/>
            <a:ext cx="5077863" cy="39052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EED925-9216-437E-A5C4-272FE7EC2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9906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535353"/>
                </a:solidFill>
              </a:defRPr>
            </a:pPr>
            <a:r>
              <a:rPr sz="675">
                <a:solidFill>
                  <a:srgbClr val="535353"/>
                </a:solidFill>
              </a:rPr>
              <a:t>内部汇报 · RGAT one-hop · labeled roots · L1 layer 1 · seeds 42 / 43 / 44 · 08_message_budget_share_relation_family.png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822DEF-29FD-4E8C-A800-D8A9CED15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35353"/>
                </a:solidFill>
              </a:defRPr>
            </a:pPr>
            <a:r>
              <a:rPr sz="825" b="1">
                <a:solidFill>
                  <a:srgbClr val="535353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13554358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E7E7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031757-25D8-43D8-85B8-1481452D5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8150"/>
            <a:ext cx="10096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01010"/>
                </a:solidFill>
              </a:defRPr>
            </a:pPr>
            <a:r>
              <a:rPr sz="2625" b="1">
                <a:solidFill>
                  <a:srgbClr val="101010"/>
                </a:solidFill>
              </a:rPr>
              <a:t>Gradient × attention：精确亲属关系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950795-35C9-4CCD-8939-8CD3BD4E5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5238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35353"/>
                </a:solidFill>
              </a:defRPr>
            </a:pPr>
            <a:r>
              <a:rPr sz="825">
                <a:solidFill>
                  <a:srgbClr val="535353"/>
                </a:solidFill>
              </a:rPr>
              <a:t>精确亲属关系 · 5 ×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149733-7C29-430C-B59F-803FB17AA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38225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6980A2-CA48-420D-A838-128E6BE38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561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1010"/>
                </a:solidFill>
              </a:defRPr>
            </a:pPr>
            <a:r>
              <a:rPr sz="1575" b="1">
                <a:solidFill>
                  <a:srgbClr val="101010"/>
                </a:solidFill>
              </a:rPr>
              <a:t>Fᵢ = zᵢ,ĉ − log Σₖ≠ĉ exp(zᵢ,k)；gₑ = meanₕ[ αₑ,ₕ · ∂Fᵢ/∂αₑ,ₕ 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89FB47-0397-4E4B-B63F-9CD118C05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538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1010"/>
                </a:solidFill>
              </a:defRPr>
            </a:pPr>
            <a:r>
              <a:rPr sz="1500" b="1">
                <a:solidFill>
                  <a:srgbClr val="101010"/>
                </a:solidFill>
              </a:rPr>
              <a:t>统计口径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65D3BA-C2EA-4E99-ADF9-ACA745881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5381625" cy="423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03030"/>
                </a:solidFill>
              </a:defRPr>
            </a:pPr>
            <a:r>
              <a:rPr sz="1350">
                <a:solidFill>
                  <a:srgbClr val="303030"/>
                </a:solidFill>
              </a:rPr>
              <a:t>• ĉ 是未扰动前的预测类别，F 是该类别相对其他类别的 predicted-margin。</a:t>
            </a:r>
          </a:p>
          <a:p xmlns:a="http://schemas.openxmlformats.org/drawingml/2006/main">
            <a:pPr>
              <a:defRPr sz="1350">
                <a:solidFill>
                  <a:srgbClr val="303030"/>
                </a:solidFill>
              </a:defRPr>
            </a:pPr>
            <a:r>
              <a:rPr sz="1350">
                <a:solidFill>
                  <a:srgbClr val="303030"/>
                </a:solidFill>
              </a:rPr>
              <a:t>• 对每条边/每个 head，记录 attention α 对 F 的局部导数并乘以 α。</a:t>
            </a:r>
          </a:p>
          <a:p xmlns:a="http://schemas.openxmlformats.org/drawingml/2006/main">
            <a:pPr>
              <a:defRPr sz="1350">
                <a:solidFill>
                  <a:srgbClr val="303030"/>
                </a:solidFill>
              </a:defRPr>
            </a:pPr>
            <a:r>
              <a:rPr sz="1350">
                <a:solidFill>
                  <a:srgbClr val="303030"/>
                </a:solidFill>
              </a:rPr>
              <a:t>• 先跨 head 平均，再在 root 内汇总匹配边，并按 raw 图的条件均值规则平均。</a:t>
            </a:r>
          </a:p>
          <a:p xmlns:a="http://schemas.openxmlformats.org/drawingml/2006/main">
            <a:pPr>
              <a:defRPr sz="1350">
                <a:solidFill>
                  <a:srgbClr val="303030"/>
                </a:solidFill>
              </a:defRPr>
            </a:pPr>
            <a:r>
              <a:rPr sz="1350">
                <a:solidFill>
                  <a:srgbClr val="303030"/>
                </a:solidFill>
              </a:rPr>
              <a:t>• 正负号对应局部一阶方向；不表示独立删除该边后的因果效应。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aca5a413f6481c"/>
          <a:stretch xmlns:a="http://schemas.openxmlformats.org/drawingml/2006/main"/>
        </p:blipFill>
        <p:spPr>
          <a:xfrm xmlns:a="http://schemas.openxmlformats.org/drawingml/2006/main">
            <a:off x="7560417" y="1181100"/>
            <a:ext cx="3024291" cy="52006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30DBAD-112B-443F-A9F4-20D160B00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9906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535353"/>
                </a:solidFill>
              </a:defRPr>
            </a:pPr>
            <a:r>
              <a:rPr sz="675">
                <a:solidFill>
                  <a:srgbClr val="535353"/>
                </a:solidFill>
              </a:rPr>
              <a:t>内部汇报 · RGAT one-hop · labeled roots · L1 layer 1 · seeds 42 / 43 / 44 · 09_gradient_x_attention_exact_kinship.png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D6F249-8AA3-460D-9E8A-F0C55C122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35353"/>
                </a:solidFill>
              </a:defRPr>
            </a:pPr>
            <a:r>
              <a:rPr sz="825" b="1">
                <a:solidFill>
                  <a:srgbClr val="535353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87991706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E7E7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1EAC44-25B1-4E1D-B86E-1E119EBCD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8150"/>
            <a:ext cx="10096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01010"/>
                </a:solidFill>
              </a:defRPr>
            </a:pPr>
            <a:r>
              <a:rPr sz="2625" b="1">
                <a:solidFill>
                  <a:srgbClr val="101010"/>
                </a:solidFill>
              </a:rPr>
              <a:t>Gradient × attention：relation family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FA8490-8652-4892-AECE-9B97D4F93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5238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35353"/>
                </a:solidFill>
              </a:defRPr>
            </a:pPr>
            <a:r>
              <a:rPr sz="825">
                <a:solidFill>
                  <a:srgbClr val="535353"/>
                </a:solidFill>
              </a:rPr>
              <a:t>relation family · 5 ×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1FA8C8-182F-4072-B784-4EFB72745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38225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DF8682-19A1-4C2D-B3C6-B4947EF11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1010"/>
                </a:solidFill>
              </a:defRPr>
            </a:pPr>
            <a:r>
              <a:rPr sz="1575" b="1">
                <a:solidFill>
                  <a:srgbClr val="101010"/>
                </a:solidFill>
              </a:rPr>
              <a:t>family gradient = n 加权的精确关系 gₑ 条件均值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E1A1C9-CAA9-4138-B13A-0D41D3887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4810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1010"/>
                </a:solidFill>
              </a:defRPr>
            </a:pPr>
            <a:r>
              <a:rPr sz="1500" b="1">
                <a:solidFill>
                  <a:srgbClr val="101010"/>
                </a:solidFill>
              </a:rPr>
              <a:t>统计口径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DD5902-6F65-4716-A9CA-63BAF9DB9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4810125" cy="423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03030"/>
                </a:solidFill>
              </a:defRPr>
            </a:pPr>
            <a:r>
              <a:rPr sz="1350">
                <a:solidFill>
                  <a:srgbClr val="303030"/>
                </a:solidFill>
              </a:rPr>
              <a:t>• kinship/nonkinship 的聚合规则与前述 family 图一致。</a:t>
            </a:r>
          </a:p>
          <a:p xmlns:a="http://schemas.openxmlformats.org/drawingml/2006/main">
            <a:pPr>
              <a:defRPr sz="1350">
                <a:solidFill>
                  <a:srgbClr val="303030"/>
                </a:solidFill>
              </a:defRPr>
            </a:pPr>
            <a:r>
              <a:rPr sz="1350">
                <a:solidFill>
                  <a:srgbClr val="303030"/>
                </a:solidFill>
              </a:rPr>
              <a:t>• 每个精确关系的 signed gradient × attention 结果按匹配数 n 汇总。</a:t>
            </a:r>
          </a:p>
          <a:p xmlns:a="http://schemas.openxmlformats.org/drawingml/2006/main">
            <a:pPr>
              <a:defRPr sz="1350">
                <a:solidFill>
                  <a:srgbClr val="303030"/>
                </a:solidFill>
              </a:defRPr>
            </a:pPr>
            <a:r>
              <a:rPr sz="1350">
                <a:solidFill>
                  <a:srgbClr val="303030"/>
                </a:solidFill>
              </a:rPr>
              <a:t>• α 位于对同一目标的 softmax 约束中，因此各边的局部扰动并不相互独立。</a:t>
            </a:r>
          </a:p>
          <a:p xmlns:a="http://schemas.openxmlformats.org/drawingml/2006/main">
            <a:pPr>
              <a:defRPr sz="1350">
                <a:solidFill>
                  <a:srgbClr val="303030"/>
                </a:solidFill>
              </a:defRPr>
            </a:pPr>
            <a:r>
              <a:rPr sz="1350">
                <a:solidFill>
                  <a:srgbClr val="303030"/>
                </a:solidFill>
              </a:rPr>
              <a:t>• 单位：predicted-margin 对 attention 的局部一阶归因（有符号）。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e15315ef374588"/>
          <a:stretch xmlns:a="http://schemas.openxmlformats.org/drawingml/2006/main"/>
        </p:blipFill>
        <p:spPr>
          <a:xfrm xmlns:a="http://schemas.openxmlformats.org/drawingml/2006/main">
            <a:off x="6565433" y="1495425"/>
            <a:ext cx="4071284" cy="39052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842FEA-5B00-40F1-9434-6DBCAD0F3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9906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535353"/>
                </a:solidFill>
              </a:defRPr>
            </a:pPr>
            <a:r>
              <a:rPr sz="675">
                <a:solidFill>
                  <a:srgbClr val="535353"/>
                </a:solidFill>
              </a:rPr>
              <a:t>内部汇报 · RGAT one-hop · labeled roots · L1 layer 1 · seeds 42 / 43 / 44 · 10_gradient_x_attention_relation_family.png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1C77C5-D8BE-44A5-A08C-BF07AEA56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35353"/>
                </a:solidFill>
              </a:defRPr>
            </a:pPr>
            <a:r>
              <a:rPr sz="825" b="1">
                <a:solidFill>
                  <a:srgbClr val="535353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73094279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E7E7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BD5F29-5E4E-41B2-884B-F11084F08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8150"/>
            <a:ext cx="10096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01010"/>
                </a:solidFill>
              </a:defRPr>
            </a:pPr>
            <a:r>
              <a:rPr sz="2625" b="1">
                <a:solidFill>
                  <a:srgbClr val="101010"/>
                </a:solidFill>
              </a:rPr>
              <a:t>图表口径汇总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524D4D-86F5-42DD-9EF4-BD506C6D2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5238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35353"/>
                </a:solidFill>
              </a:defRPr>
            </a:pPr>
            <a:r>
              <a:rPr sz="825">
                <a:solidFill>
                  <a:srgbClr val="535353"/>
                </a:solidFill>
              </a:rPr>
              <a:t>本次内部汇报范围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530F7E-9496-4921-9870-F526FCC37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38225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1C473B-2F7C-40FA-83B9-797E0EAF4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71625"/>
            <a:ext cx="10572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01010"/>
                </a:solidFill>
              </a:defRPr>
            </a:pPr>
            <a:r>
              <a:rPr sz="1725">
                <a:solidFill>
                  <a:srgbClr val="101010"/>
                </a:solidFill>
              </a:rPr>
              <a:t>1. Raw attention：条件 pair-present 的 attention mass 均值。</a:t>
            </a:r>
          </a:p>
          <a:p xmlns:a="http://schemas.openxmlformats.org/drawingml/2006/main">
            <a:pPr>
              <a:defRPr sz="1725">
                <a:solidFill>
                  <a:srgbClr val="101010"/>
                </a:solidFill>
              </a:defRPr>
            </a:pPr>
            <a:r>
              <a:rPr sz="1725">
                <a:solidFill>
                  <a:srgbClr val="101010"/>
                </a:solidFill>
              </a:rPr>
              <a:t>2. Attention budget share：以目标标签完整 attention budget 归一化。</a:t>
            </a:r>
          </a:p>
          <a:p xmlns:a="http://schemas.openxmlformats.org/drawingml/2006/main">
            <a:pPr>
              <a:defRPr sz="1725">
                <a:solidFill>
                  <a:srgbClr val="101010"/>
                </a:solidFill>
              </a:defRPr>
            </a:pPr>
            <a:r>
              <a:rPr sz="1725">
                <a:solidFill>
                  <a:srgbClr val="101010"/>
                </a:solidFill>
              </a:rPr>
              <a:t>3. Raw message：逐边 αWᵣh 的 L2 幅度和，再做条件均值。</a:t>
            </a:r>
          </a:p>
          <a:p xmlns:a="http://schemas.openxmlformats.org/drawingml/2006/main">
            <a:pPr>
              <a:defRPr sz="1725">
                <a:solidFill>
                  <a:srgbClr val="101010"/>
                </a:solidFill>
              </a:defRPr>
            </a:pPr>
            <a:r>
              <a:rPr sz="1725">
                <a:solidFill>
                  <a:srgbClr val="101010"/>
                </a:solidFill>
              </a:rPr>
              <a:t>4. Message budget share：以目标标签完整 typed absolute-message budget 归一化。</a:t>
            </a:r>
          </a:p>
          <a:p xmlns:a="http://schemas.openxmlformats.org/drawingml/2006/main">
            <a:pPr>
              <a:defRPr sz="1725">
                <a:solidFill>
                  <a:srgbClr val="101010"/>
                </a:solidFill>
              </a:defRPr>
            </a:pPr>
            <a:r>
              <a:rPr sz="1725">
                <a:solidFill>
                  <a:srgbClr val="101010"/>
                </a:solidFill>
              </a:rPr>
              <a:t>5. Gradient × attention：对 predicted-margin 的局部一阶、有符号归因。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E02E1A-F2ED-4A84-9117-5EAAA0488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72000"/>
            <a:ext cx="1009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303030"/>
                </a:solidFill>
              </a:defRPr>
            </a:pPr>
            <a:r>
              <a:rPr sz="1575" b="1">
                <a:solidFill>
                  <a:srgbClr val="303030"/>
                </a:solidFill>
              </a:rPr>
              <a:t>共同范围：RGAT one-hop · labeled roots · L1 layer 1 · 4 heads · seeds 42 / 43 / 44</a:t>
            </a:r>
          </a:p>
          <a:p xmlns:a="http://schemas.openxmlformats.org/drawingml/2006/main">
            <a:pPr>
              <a:defRPr sz="1575" b="1">
                <a:solidFill>
                  <a:srgbClr val="303030"/>
                </a:solidFill>
              </a:defRPr>
            </a:pPr>
            <a:r>
              <a:rPr sz="1575" b="1">
                <a:solidFill>
                  <a:srgbClr val="303030"/>
                </a:solidFill>
              </a:rPr>
              <a:t>图表已以标准化文件名保存在项目根目录 visulization/。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00F864-A5F6-4FCC-81CB-D6C40DC92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9906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535353"/>
                </a:solidFill>
              </a:defRPr>
            </a:pPr>
            <a:r>
              <a:rPr sz="675">
                <a:solidFill>
                  <a:srgbClr val="535353"/>
                </a:solidFill>
              </a:rPr>
              <a:t>内部汇报 · RGAT one-hop · labeled roots · L1 layer 1 · seeds 42 / 43 / 44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D45B82-BED7-4EBB-A334-5874A4CBF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35353"/>
                </a:solidFill>
              </a:defRPr>
            </a:pPr>
            <a:r>
              <a:rPr sz="825" b="1">
                <a:solidFill>
                  <a:srgbClr val="535353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5741429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2026-08-11T08:04:49.7450000Z</dcterms:created>
  <dcterms:modified xsi:type="dcterms:W3CDTF">2026-08-11T08:04:49.7450000Z</dcterms:modified>
</coreProperties>
</file>