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1122680e7946e2" /><Relationship Type="http://schemas.openxmlformats.org/officeDocument/2006/relationships/extended-properties" Target="/docProps/app.xml" Id="Rae7771e28d8d44f7" /><Relationship Type="http://schemas.openxmlformats.org/officeDocument/2006/relationships/officeDocument" Target="/ppt/presentation.xml" Id="Rfca4bf2495514d16" /></Relationships>
</file>

<file path=ppt/presentation.xml><?xml version="1.0" encoding="utf-8"?>
<p:presentation xmlns:p="http://schemas.openxmlformats.org/presentationml/2006/main">
  <p:sldMasterIdLst>
    <p:sldMasterId xmlns:r="http://schemas.openxmlformats.org/officeDocument/2006/relationships" id="2147483648" r:id="R5e91a9574fa5426b"/>
  </p:sldMasterIdLst>
  <p:notesMasterIdLst>
    <p:notesMasterId xmlns:r="http://schemas.openxmlformats.org/officeDocument/2006/relationships" r:id="R708bf21c340746e5"/>
  </p:notesMasterIdLst>
  <p:sldIdLst>
    <p:sldId xmlns:r="http://schemas.openxmlformats.org/officeDocument/2006/relationships" id="256" r:id="R882cf264cf6f4af3"/>
    <p:sldId xmlns:r="http://schemas.openxmlformats.org/officeDocument/2006/relationships" id="257" r:id="Rc8a30c61fe3e4c1e"/>
    <p:sldId xmlns:r="http://schemas.openxmlformats.org/officeDocument/2006/relationships" id="258" r:id="Rd0812e42208b489a"/>
    <p:sldId xmlns:r="http://schemas.openxmlformats.org/officeDocument/2006/relationships" id="259" r:id="Re919409875304a8f"/>
    <p:sldId xmlns:r="http://schemas.openxmlformats.org/officeDocument/2006/relationships" id="260" r:id="R16a11a130d7e48f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38c426ef424805" /><Relationship Type="http://schemas.openxmlformats.org/officeDocument/2006/relationships/slideMaster" Target="/ppt/slideMasters/slideMaster1.xml" Id="R5e91a9574fa5426b" /><Relationship Type="http://schemas.openxmlformats.org/officeDocument/2006/relationships/notesMaster" Target="/ppt/notesMasters/notesMaster1.xml" Id="R708bf21c340746e5" /><Relationship Type="http://schemas.openxmlformats.org/officeDocument/2006/relationships/presProps" Target="/ppt/presProps.xml" Id="Rb1332b9ff4c74dab" /><Relationship Type="http://schemas.openxmlformats.org/officeDocument/2006/relationships/tableStyles" Target="/ppt/tableStyles.xml" Id="R56226773fda040c6" /><Relationship Type="http://schemas.openxmlformats.org/officeDocument/2006/relationships/slide" Target="/ppt/slides/slide1.xml" Id="R882cf264cf6f4af3" /><Relationship Type="http://schemas.openxmlformats.org/officeDocument/2006/relationships/slide" Target="/ppt/slides/slide2.xml" Id="Rc8a30c61fe3e4c1e" /><Relationship Type="http://schemas.openxmlformats.org/officeDocument/2006/relationships/slide" Target="/ppt/slides/slide3.xml" Id="Rd0812e42208b489a" /><Relationship Type="http://schemas.openxmlformats.org/officeDocument/2006/relationships/slide" Target="/ppt/slides/slide4.xml" Id="Re919409875304a8f" /><Relationship Type="http://schemas.openxmlformats.org/officeDocument/2006/relationships/slide" Target="/ppt/slides/slide5.xml" Id="R16a11a130d7e48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95bee3415a4c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e20d6ced6f4a46" /><Relationship Type="http://schemas.openxmlformats.org/officeDocument/2006/relationships/notesMaster" Target="/ppt/notesMasters/notesMaster1.xml" Id="Rbfa008a917904e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1e9f44f03648db" /><Relationship Type="http://schemas.openxmlformats.org/officeDocument/2006/relationships/notesMaster" Target="/ppt/notesMasters/notesMaster1.xml" Id="R14875674b0fe47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681dfed206457a" /><Relationship Type="http://schemas.openxmlformats.org/officeDocument/2006/relationships/notesMaster" Target="/ppt/notesMasters/notesMaster1.xml" Id="R2a84e9ac930e40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0d9fa123f74915" /><Relationship Type="http://schemas.openxmlformats.org/officeDocument/2006/relationships/notesMaster" Target="/ppt/notesMasters/notesMaster1.xml" Id="Rf1d8379da41e4a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39518389d94d16" /><Relationship Type="http://schemas.openxmlformats.org/officeDocument/2006/relationships/notesMaster" Target="/ppt/notesMasters/notesMaster1.xml" Id="Rd3bb65f144104a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来源：Freebase/HANDOFF_PROFESSION_SELECTION.md；docs/freebase_profession_review_2026-10-03/review_report.md；收到的 artifacts/freebase_provisional_l1_v1/split_summary.json 与 label_selection_audit.tsv。原始 Profession 是多值属性，全部保存在 JSON 数组。598,078 是资料完整队列，100,756 是当前关系图人物，两者分母不同。严格大类唯一要求所有原职业均映射为有效候选且去重后大类仅一个。81,621 + 18,003 + 1,132 = 100,756。未逐条人工批准，也未核实原始职业事实。Leadership 沿用当前本体，包含政治、法律、宗教、军事、贵族和企业经营。Other 混合四类之外与待审值，不能当作已经审定的第五职业领域。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来源：收到的 config/freebase_tie_taxonomy_acquired_subgroups_v1.json、config/freebase_tie_taxonomy_v1.json、config/freebase_life_periods_20y_v1.json 和 Freebase/relation_rules.json。四个 acquired 细组保持互斥，当前 Freebase 没有足够谓词建立独立职业合作或宗教授任组。Academic advisor 与 Martial Art Instructor 方向保留原向，不额外断言师生方向。时期窗宽20年、步长20年，1500–1900包含1900，后一窗从1901开始。按生卒区间重叠诱导；只有一个日期的节点仅进入该已知日期所在窗口，关系无事件时间。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来源：收到的 runs/freebase_grouped_20y_v1/&lt;时期&gt;/multi_group/seed_42/metrics.json 的 test.accuracy 与 test.macro_f1；测试人数来自对应分组图 split_summary.json 并与 test_predictions.csv 行数核验。只显示实际运行的 multi_group，无 Binary 数据。两位小数为100倍比例。时期独立分层划分 70/10/20；本轮 seed42；不同图的活跃类别及样本构成不同，跨时期变化不能直接解释为时间因果效应。允许训练职业标签作为邻居特征，验证/测试标签未知，每次前向遮住当前预测根节点职业。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来源：收到的 runs_graphmask/freebase_grouped_20y_v1/&lt;时期&gt;/multi_group/seed_42/test_report/test_metrics.json。列对应 hard_retention_rate、prediction_agreement、masked.accuracy、masked.macro_f1。整体保留率为两层 hard retained sampled message observations / all sampled message observations，不是全图唯一边保留率。GraphMask 不直接修改源图，使用可学习基线替换被掩码的消息，故使用“掩码后”比“删边后”准确。验证集各时期 relative_macro_f1_difference 均不超过0.05。2001–2020 测试相对F1降幅=(0.29138756468427995−0.2516775651377089)/0.29138756468427995=13.63%，不能用验证门槛宣称测试同样保真。GraphMask 内 original 和 masked 使用同一解释采样上下文成对比较，可能与单独 RGCN sampled test 指标略有差异。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来源：收到的各时期 test_report/relations_base.csv，取 layer=0 的 retained_edge_share。分母为该层全部关系组硬保留的采样消息观测次数。已逐时期验证关系观测数、加权硬保留数与 test_metrics.json Layer0相符，完整精度份额之和为1。没有观测消息的组显示灰色和破折号，其中无图边和有边但未采样在私有底表分别记录。before_1500 全部Layer0测试采样消息均hard-kept，所以标星。这不证明该层未学习或门控未开启，mean_keep_probability为0.9417；收到历史缺少显式enabled_layers，依据逐层训练阶段推断所选探针两层均启用。热图保留份额不是各组自身保留率。五组次序为inherited, intimate_partnership, education_mentorship, influence_succession, other_acquired。热图以原生可编辑表格单元格呈现。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9e03b9602a41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b044a184b54c26" /><Relationship Type="http://schemas.openxmlformats.org/officeDocument/2006/relationships/slideLayout" Target="/ppt/slideLayouts/slideLayout1.xml" Id="R13d208b016f34e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d208b016f34e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ef7d32d3e7f4b6f" /><Relationship Type="http://schemas.openxmlformats.org/officeDocument/2006/relationships/notesSlide" Target="/ppt/notesSlides/notesSlide1.xml" Id="R1ee69f8261f645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43b4525b2094573" /><Relationship Type="http://schemas.openxmlformats.org/officeDocument/2006/relationships/notesSlide" Target="/ppt/notesSlides/notesSlide2.xml" Id="R680b5764f2b142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519c1c479bb489f" /><Relationship Type="http://schemas.openxmlformats.org/officeDocument/2006/relationships/notesSlide" Target="/ppt/notesSlides/notesSlide3.xml" Id="Rbaabfb3cb6ae40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638b8560ac54360" /><Relationship Type="http://schemas.openxmlformats.org/officeDocument/2006/relationships/notesSlide" Target="/ppt/notesSlides/notesSlide4.xml" Id="Rd85974a933864f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8be89e735f04b5b" /><Relationship Type="http://schemas.openxmlformats.org/officeDocument/2006/relationships/notesSlide" Target="/ppt/notesSlides/notesSlide5.xml" Id="R8a863ef5a7274a5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37D9D2B-A4A6-4879-8670-FB1FBDDBC750}"/>
              </a:ext>
            </a:extLst>
          </p:cNvPr>
          <p:cNvSpPr>
            <a:spLocks xmlns:a="http://schemas.openxmlformats.org/drawingml/2006/main" noGrp="1"/>
          </p:cNvSpPr>
          <p:nvPr/>
        </p:nvSpPr>
        <p:spPr>
          <a:xfrm xmlns:a="http://schemas.openxmlformats.org/drawingml/2006/main">
            <a:off x="571500" y="38100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625" b="1">
                <a:solidFill>
                  <a:srgbClr val="111111"/>
                </a:solidFill>
                <a:latin typeface="Arial Unicode MS"/>
                <a:ea typeface="Arial Unicode MS"/>
                <a:cs typeface="Arial Unicode MS"/>
              </a:defRPr>
            </a:pPr>
            <a:r>
              <a:rPr sz="2625" b="1">
                <a:solidFill>
                  <a:srgbClr val="111111"/>
                </a:solidFill>
                <a:latin typeface="Arial Unicode MS"/>
                <a:ea typeface="Arial Unicode MS"/>
                <a:cs typeface="Arial Unicode MS"/>
              </a:rPr>
              <a:t>Freebase 多职业提取与临时单标签构建</a:t>
            </a:r>
          </a:p>
        </p:txBody>
      </p:sp>
      <p:sp>
        <p:nvSpPr>
          <p:cNvPr id="2" name="">
            <a:extLst xmlns:a="http://schemas.openxmlformats.org/drawingml/2006/main">
              <a:ext uri="{FF2B5EF4-FFF2-40B4-BE49-F238E27FC236}">
                <a16:creationId xmlns:a16="http://schemas.microsoft.com/office/drawing/2014/main" id="{485CCDA2-2993-4979-8CE1-EF5D6B2B41FE}"/>
              </a:ext>
            </a:extLst>
          </p:cNvPr>
          <p:cNvSpPr>
            <a:spLocks xmlns:a="http://schemas.openxmlformats.org/drawingml/2006/main" noGrp="1"/>
          </p:cNvSpPr>
          <p:nvPr/>
        </p:nvSpPr>
        <p:spPr>
          <a:xfrm xmlns:a="http://schemas.openxmlformats.org/drawingml/2006/main">
            <a:off x="571500" y="1057275"/>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C6064"/>
                </a:solidFill>
                <a:latin typeface="Arial Unicode MS"/>
                <a:ea typeface="Arial Unicode MS"/>
                <a:cs typeface="Arial Unicode MS"/>
              </a:defRPr>
            </a:pPr>
            <a:r>
              <a:rPr sz="1725" b="0">
                <a:solidFill>
                  <a:srgbClr val="5C6064"/>
                </a:solidFill>
                <a:latin typeface="Arial Unicode MS"/>
                <a:ea typeface="Arial Unicode MS"/>
                <a:cs typeface="Arial Unicode MS"/>
              </a:rPr>
              <a:t>保留全部原始职业，独立派生本轮实验标签</a:t>
            </a:r>
          </a:p>
        </p:txBody>
      </p:sp>
      <p:sp>
        <p:nvSpPr>
          <p:cNvPr id="3" name="">
            <a:extLst xmlns:a="http://schemas.openxmlformats.org/drawingml/2006/main">
              <a:ext uri="{FF2B5EF4-FFF2-40B4-BE49-F238E27FC236}">
                <a16:creationId xmlns:a16="http://schemas.microsoft.com/office/drawing/2014/main" id="{8E13E4EF-B221-4B8C-B978-0D4EA7C07B7D}"/>
              </a:ext>
            </a:extLst>
          </p:cNvPr>
          <p:cNvSpPr>
            <a:spLocks xmlns:a="http://schemas.openxmlformats.org/drawingml/2006/main" noGrp="1"/>
          </p:cNvSpPr>
          <p:nvPr/>
        </p:nvSpPr>
        <p:spPr>
          <a:xfrm xmlns:a="http://schemas.openxmlformats.org/drawingml/2006/main">
            <a:off x="609600" y="1790700"/>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202124"/>
                </a:solidFill>
                <a:latin typeface="Arial Unicode MS"/>
                <a:ea typeface="Arial Unicode MS"/>
                <a:cs typeface="Arial Unicode MS"/>
              </a:defRPr>
            </a:pPr>
            <a:r>
              <a:rPr sz="2100" b="1">
                <a:solidFill>
                  <a:srgbClr val="202124"/>
                </a:solidFill>
                <a:latin typeface="Arial Unicode MS"/>
                <a:ea typeface="Arial Unicode MS"/>
                <a:cs typeface="Arial Unicode MS"/>
              </a:rPr>
              <a:t>1  原始提取与关系图</a:t>
            </a:r>
          </a:p>
        </p:txBody>
      </p:sp>
      <p:sp>
        <p:nvSpPr>
          <p:cNvPr id="4" name="">
            <a:extLst xmlns:a="http://schemas.openxmlformats.org/drawingml/2006/main">
              <a:ext uri="{FF2B5EF4-FFF2-40B4-BE49-F238E27FC236}">
                <a16:creationId xmlns:a16="http://schemas.microsoft.com/office/drawing/2014/main" id="{5094EC1A-A059-4FB0-89D8-57058E8902D3}"/>
              </a:ext>
            </a:extLst>
          </p:cNvPr>
          <p:cNvSpPr>
            <a:spLocks xmlns:a="http://schemas.openxmlformats.org/drawingml/2006/main" noGrp="1"/>
          </p:cNvSpPr>
          <p:nvPr/>
        </p:nvSpPr>
        <p:spPr>
          <a:xfrm xmlns:a="http://schemas.openxmlformats.org/drawingml/2006/main">
            <a:off x="4095750" y="1781175"/>
            <a:ext cx="10496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202124"/>
                </a:solidFill>
                <a:latin typeface="Arial Unicode MS"/>
                <a:ea typeface="Arial Unicode MS"/>
                <a:cs typeface="Arial Unicode MS"/>
              </a:defRPr>
            </a:pPr>
            <a:r>
              <a:rPr sz="1950" b="0">
                <a:solidFill>
                  <a:srgbClr val="202124"/>
                </a:solidFill>
                <a:latin typeface="Arial Unicode MS"/>
                <a:ea typeface="Arial Unicode MS"/>
                <a:cs typeface="Arial Unicode MS"/>
              </a:rPr>
              <a:t>至少一个 Profession 且有可解析生卒年：598,078 人，其中 420,421 人多职业。</a:t>
            </a:r>
          </a:p>
          <a:p xmlns:a="http://schemas.openxmlformats.org/drawingml/2006/main">
            <a:pPr algn="l">
              <a:defRPr sz="1950" b="0">
                <a:solidFill>
                  <a:srgbClr val="202124"/>
                </a:solidFill>
                <a:latin typeface="Arial Unicode MS"/>
                <a:ea typeface="Arial Unicode MS"/>
                <a:cs typeface="Arial Unicode MS"/>
              </a:defRPr>
            </a:pPr>
            <a:r>
              <a:rPr sz="1950" b="0">
                <a:solidFill>
                  <a:srgbClr val="202124"/>
                </a:solidFill>
                <a:latin typeface="Arial Unicode MS"/>
                <a:ea typeface="Arial Unicode MS"/>
                <a:cs typeface="Arial Unicode MS"/>
              </a:rPr>
              <a:t>当前关系图包含 100,756 人，其中 67,502 人拥有多个原始职业。</a:t>
            </a:r>
          </a:p>
        </p:txBody>
      </p:sp>
      <p:sp>
        <p:nvSpPr>
          <p:cNvPr id="5" name="">
            <a:extLst xmlns:a="http://schemas.openxmlformats.org/drawingml/2006/main">
              <a:ext uri="{FF2B5EF4-FFF2-40B4-BE49-F238E27FC236}">
                <a16:creationId xmlns:a16="http://schemas.microsoft.com/office/drawing/2014/main" id="{9C52E705-A7CD-470A-A8D0-80A206BDC7C2}"/>
              </a:ext>
            </a:extLst>
          </p:cNvPr>
          <p:cNvSpPr>
            <a:spLocks xmlns:a="http://schemas.openxmlformats.org/drawingml/2006/main" noGrp="1"/>
          </p:cNvSpPr>
          <p:nvPr/>
        </p:nvSpPr>
        <p:spPr>
          <a:xfrm xmlns:a="http://schemas.openxmlformats.org/drawingml/2006/main">
            <a:off x="609600" y="2962275"/>
            <a:ext cx="1398270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6" name="">
            <a:extLst xmlns:a="http://schemas.openxmlformats.org/drawingml/2006/main">
              <a:ext uri="{FF2B5EF4-FFF2-40B4-BE49-F238E27FC236}">
                <a16:creationId xmlns:a16="http://schemas.microsoft.com/office/drawing/2014/main" id="{8935E3D0-4C95-46C6-B20F-47DD2047DFBD}"/>
              </a:ext>
            </a:extLst>
          </p:cNvPr>
          <p:cNvSpPr>
            <a:spLocks xmlns:a="http://schemas.openxmlformats.org/drawingml/2006/main" noGrp="1"/>
          </p:cNvSpPr>
          <p:nvPr/>
        </p:nvSpPr>
        <p:spPr>
          <a:xfrm xmlns:a="http://schemas.openxmlformats.org/drawingml/2006/main">
            <a:off x="609600" y="315277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202124"/>
                </a:solidFill>
                <a:latin typeface="Arial Unicode MS"/>
                <a:ea typeface="Arial Unicode MS"/>
                <a:cs typeface="Arial Unicode MS"/>
              </a:defRPr>
            </a:pPr>
            <a:r>
              <a:rPr sz="2100" b="1">
                <a:solidFill>
                  <a:srgbClr val="202124"/>
                </a:solidFill>
                <a:latin typeface="Arial Unicode MS"/>
                <a:ea typeface="Arial Unicode MS"/>
                <a:cs typeface="Arial Unicode MS"/>
              </a:rPr>
              <a:t>2  职业值映射到大类</a:t>
            </a:r>
          </a:p>
        </p:txBody>
      </p:sp>
      <p:sp>
        <p:nvSpPr>
          <p:cNvPr id="7" name="">
            <a:extLst xmlns:a="http://schemas.openxmlformats.org/drawingml/2006/main">
              <a:ext uri="{FF2B5EF4-FFF2-40B4-BE49-F238E27FC236}">
                <a16:creationId xmlns:a16="http://schemas.microsoft.com/office/drawing/2014/main" id="{B52FB213-17D0-4059-A066-56EE17D6FBF7}"/>
              </a:ext>
            </a:extLst>
          </p:cNvPr>
          <p:cNvSpPr>
            <a:spLocks xmlns:a="http://schemas.openxmlformats.org/drawingml/2006/main" noGrp="1"/>
          </p:cNvSpPr>
          <p:nvPr/>
        </p:nvSpPr>
        <p:spPr>
          <a:xfrm xmlns:a="http://schemas.openxmlformats.org/drawingml/2006/main">
            <a:off x="4095750" y="3143250"/>
            <a:ext cx="10496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202124"/>
                </a:solidFill>
                <a:latin typeface="Arial Unicode MS"/>
                <a:ea typeface="Arial Unicode MS"/>
                <a:cs typeface="Arial Unicode MS"/>
              </a:defRPr>
            </a:pPr>
            <a:r>
              <a:rPr sz="1950" b="0">
                <a:solidFill>
                  <a:srgbClr val="202124"/>
                </a:solidFill>
                <a:latin typeface="Arial Unicode MS"/>
                <a:ea typeface="Arial Unicode MS"/>
                <a:cs typeface="Arial Unicode MS"/>
              </a:rPr>
              <a:t>当前图涉及 1,817 种职业：1,095 种提出有效映射，416 种待审，306 种在四类之外。</a:t>
            </a:r>
          </a:p>
          <a:p xmlns:a="http://schemas.openxmlformats.org/drawingml/2006/main">
            <a:pPr algn="l">
              <a:defRPr sz="1950" b="0">
                <a:solidFill>
                  <a:srgbClr val="202124"/>
                </a:solidFill>
                <a:latin typeface="Arial Unicode MS"/>
                <a:ea typeface="Arial Unicode MS"/>
                <a:cs typeface="Arial Unicode MS"/>
              </a:defRPr>
            </a:pPr>
            <a:r>
              <a:rPr sz="1950" b="0">
                <a:solidFill>
                  <a:srgbClr val="202124"/>
                </a:solidFill>
                <a:latin typeface="Arial Unicode MS"/>
                <a:ea typeface="Arial Unicode MS"/>
                <a:cs typeface="Arial Unicode MS"/>
              </a:rPr>
              <a:t>四类为 Culture、Discovery/Science、Leadership、Sports/Games。</a:t>
            </a:r>
          </a:p>
        </p:txBody>
      </p:sp>
      <p:sp>
        <p:nvSpPr>
          <p:cNvPr id="8" name="">
            <a:extLst xmlns:a="http://schemas.openxmlformats.org/drawingml/2006/main">
              <a:ext uri="{FF2B5EF4-FFF2-40B4-BE49-F238E27FC236}">
                <a16:creationId xmlns:a16="http://schemas.microsoft.com/office/drawing/2014/main" id="{052B8C84-C951-4A11-9489-1B92AE489FA4}"/>
              </a:ext>
            </a:extLst>
          </p:cNvPr>
          <p:cNvSpPr>
            <a:spLocks xmlns:a="http://schemas.openxmlformats.org/drawingml/2006/main" noGrp="1"/>
          </p:cNvSpPr>
          <p:nvPr/>
        </p:nvSpPr>
        <p:spPr>
          <a:xfrm xmlns:a="http://schemas.openxmlformats.org/drawingml/2006/main">
            <a:off x="609600" y="4324350"/>
            <a:ext cx="1398270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9" name="">
            <a:extLst xmlns:a="http://schemas.openxmlformats.org/drawingml/2006/main">
              <a:ext uri="{FF2B5EF4-FFF2-40B4-BE49-F238E27FC236}">
                <a16:creationId xmlns:a16="http://schemas.microsoft.com/office/drawing/2014/main" id="{7754230F-1BDA-442A-9B58-03971F50FCD0}"/>
              </a:ext>
            </a:extLst>
          </p:cNvPr>
          <p:cNvSpPr>
            <a:spLocks xmlns:a="http://schemas.openxmlformats.org/drawingml/2006/main" noGrp="1"/>
          </p:cNvSpPr>
          <p:nvPr/>
        </p:nvSpPr>
        <p:spPr>
          <a:xfrm xmlns:a="http://schemas.openxmlformats.org/drawingml/2006/main">
            <a:off x="609600" y="4514850"/>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202124"/>
                </a:solidFill>
                <a:latin typeface="Arial Unicode MS"/>
                <a:ea typeface="Arial Unicode MS"/>
                <a:cs typeface="Arial Unicode MS"/>
              </a:defRPr>
            </a:pPr>
            <a:r>
              <a:rPr sz="2100" b="1">
                <a:solidFill>
                  <a:srgbClr val="202124"/>
                </a:solidFill>
                <a:latin typeface="Arial Unicode MS"/>
                <a:ea typeface="Arial Unicode MS"/>
                <a:cs typeface="Arial Unicode MS"/>
              </a:rPr>
              <a:t>3  检查大类是否唯一</a:t>
            </a:r>
          </a:p>
        </p:txBody>
      </p:sp>
      <p:sp>
        <p:nvSpPr>
          <p:cNvPr id="10" name="">
            <a:extLst xmlns:a="http://schemas.openxmlformats.org/drawingml/2006/main">
              <a:ext uri="{FF2B5EF4-FFF2-40B4-BE49-F238E27FC236}">
                <a16:creationId xmlns:a16="http://schemas.microsoft.com/office/drawing/2014/main" id="{09C9FB24-3629-4D78-84D2-462FCDC55079}"/>
              </a:ext>
            </a:extLst>
          </p:cNvPr>
          <p:cNvSpPr>
            <a:spLocks xmlns:a="http://schemas.openxmlformats.org/drawingml/2006/main" noGrp="1"/>
          </p:cNvSpPr>
          <p:nvPr/>
        </p:nvSpPr>
        <p:spPr>
          <a:xfrm xmlns:a="http://schemas.openxmlformats.org/drawingml/2006/main">
            <a:off x="4095750" y="4505325"/>
            <a:ext cx="10496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202124"/>
                </a:solidFill>
                <a:latin typeface="Arial Unicode MS"/>
                <a:ea typeface="Arial Unicode MS"/>
                <a:cs typeface="Arial Unicode MS"/>
              </a:defRPr>
            </a:pPr>
            <a:r>
              <a:rPr sz="1950" b="0">
                <a:solidFill>
                  <a:srgbClr val="202124"/>
                </a:solidFill>
                <a:latin typeface="Arial Unicode MS"/>
                <a:ea typeface="Arial Unicode MS"/>
                <a:cs typeface="Arial Unicode MS"/>
              </a:rPr>
              <a:t>所有原始职业均有有效映射且大类唯一：81,621 人。</a:t>
            </a:r>
          </a:p>
          <a:p xmlns:a="http://schemas.openxmlformats.org/drawingml/2006/main">
            <a:pPr algn="l">
              <a:defRPr sz="1950" b="0">
                <a:solidFill>
                  <a:srgbClr val="202124"/>
                </a:solidFill>
                <a:latin typeface="Arial Unicode MS"/>
                <a:ea typeface="Arial Unicode MS"/>
                <a:cs typeface="Arial Unicode MS"/>
              </a:defRPr>
            </a:pPr>
            <a:r>
              <a:rPr sz="1950" b="0">
                <a:solidFill>
                  <a:srgbClr val="202124"/>
                </a:solidFill>
                <a:latin typeface="Arial Unicode MS"/>
                <a:ea typeface="Arial Unicode MS"/>
                <a:cs typeface="Arial Unicode MS"/>
              </a:rPr>
              <a:t>多个候选大类 6,475 人，映射未完整 12,660 人，共 19,135 人暂待确定。</a:t>
            </a:r>
          </a:p>
        </p:txBody>
      </p:sp>
      <p:sp>
        <p:nvSpPr>
          <p:cNvPr id="11" name="">
            <a:extLst xmlns:a="http://schemas.openxmlformats.org/drawingml/2006/main">
              <a:ext uri="{FF2B5EF4-FFF2-40B4-BE49-F238E27FC236}">
                <a16:creationId xmlns:a16="http://schemas.microsoft.com/office/drawing/2014/main" id="{4019AF4A-4DAC-49A2-A68B-44DF4FB3285A}"/>
              </a:ext>
            </a:extLst>
          </p:cNvPr>
          <p:cNvSpPr>
            <a:spLocks xmlns:a="http://schemas.openxmlformats.org/drawingml/2006/main" noGrp="1"/>
          </p:cNvSpPr>
          <p:nvPr/>
        </p:nvSpPr>
        <p:spPr>
          <a:xfrm xmlns:a="http://schemas.openxmlformats.org/drawingml/2006/main">
            <a:off x="609600" y="5686425"/>
            <a:ext cx="1398270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12" name="">
            <a:extLst xmlns:a="http://schemas.openxmlformats.org/drawingml/2006/main">
              <a:ext uri="{FF2B5EF4-FFF2-40B4-BE49-F238E27FC236}">
                <a16:creationId xmlns:a16="http://schemas.microsoft.com/office/drawing/2014/main" id="{2B4B605E-C7A2-4B94-A071-A28382DFABA8}"/>
              </a:ext>
            </a:extLst>
          </p:cNvPr>
          <p:cNvSpPr>
            <a:spLocks xmlns:a="http://schemas.openxmlformats.org/drawingml/2006/main" noGrp="1"/>
          </p:cNvSpPr>
          <p:nvPr/>
        </p:nvSpPr>
        <p:spPr>
          <a:xfrm xmlns:a="http://schemas.openxmlformats.org/drawingml/2006/main">
            <a:off x="609600" y="587692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202124"/>
                </a:solidFill>
                <a:latin typeface="Arial Unicode MS"/>
                <a:ea typeface="Arial Unicode MS"/>
                <a:cs typeface="Arial Unicode MS"/>
              </a:defRPr>
            </a:pPr>
            <a:r>
              <a:rPr sz="2100" b="1">
                <a:solidFill>
                  <a:srgbClr val="202124"/>
                </a:solidFill>
                <a:latin typeface="Arial Unicode MS"/>
                <a:ea typeface="Arial Unicode MS"/>
                <a:cs typeface="Arial Unicode MS"/>
              </a:rPr>
              <a:t>4  临时选择与审计</a:t>
            </a:r>
          </a:p>
        </p:txBody>
      </p:sp>
      <p:sp>
        <p:nvSpPr>
          <p:cNvPr id="13" name="">
            <a:extLst xmlns:a="http://schemas.openxmlformats.org/drawingml/2006/main">
              <a:ext uri="{FF2B5EF4-FFF2-40B4-BE49-F238E27FC236}">
                <a16:creationId xmlns:a16="http://schemas.microsoft.com/office/drawing/2014/main" id="{37F6B140-2ABF-4E6A-B44D-0DE42CCA5783}"/>
              </a:ext>
            </a:extLst>
          </p:cNvPr>
          <p:cNvSpPr>
            <a:spLocks xmlns:a="http://schemas.openxmlformats.org/drawingml/2006/main" noGrp="1"/>
          </p:cNvSpPr>
          <p:nvPr/>
        </p:nvSpPr>
        <p:spPr>
          <a:xfrm xmlns:a="http://schemas.openxmlformats.org/drawingml/2006/main">
            <a:off x="4095750" y="5867400"/>
            <a:ext cx="10496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202124"/>
                </a:solidFill>
                <a:latin typeface="Arial Unicode MS"/>
                <a:ea typeface="Arial Unicode MS"/>
                <a:cs typeface="Arial Unicode MS"/>
              </a:defRPr>
            </a:pPr>
            <a:r>
              <a:rPr sz="1950" b="0">
                <a:solidFill>
                  <a:srgbClr val="202124"/>
                </a:solidFill>
                <a:latin typeface="Arial Unicode MS"/>
                <a:ea typeface="Arial Unicode MS"/>
                <a:cs typeface="Arial Unicode MS"/>
              </a:rPr>
              <a:t>18,003 人取原数组中首个可映射职业，1,132 人取首个原职业并暂归 Other。</a:t>
            </a:r>
          </a:p>
          <a:p xmlns:a="http://schemas.openxmlformats.org/drawingml/2006/main">
            <a:pPr algn="l">
              <a:defRPr sz="1950" b="0">
                <a:solidFill>
                  <a:srgbClr val="202124"/>
                </a:solidFill>
                <a:latin typeface="Arial Unicode MS"/>
                <a:ea typeface="Arial Unicode MS"/>
                <a:cs typeface="Arial Unicode MS"/>
              </a:defRPr>
            </a:pPr>
            <a:r>
              <a:rPr sz="1950" b="0">
                <a:solidFill>
                  <a:srgbClr val="202124"/>
                </a:solidFill>
                <a:latin typeface="Arial Unicode MS"/>
                <a:ea typeface="Arial Unicode MS"/>
                <a:cs typeface="Arial Unicode MS"/>
              </a:rPr>
              <a:t>保留原来的 81,621 人标签，全图 100,756 人均获得五类之一的实验标签。</a:t>
            </a:r>
          </a:p>
        </p:txBody>
      </p:sp>
      <p:sp>
        <p:nvSpPr>
          <p:cNvPr id="14" name="">
            <a:extLst xmlns:a="http://schemas.openxmlformats.org/drawingml/2006/main">
              <a:ext uri="{FF2B5EF4-FFF2-40B4-BE49-F238E27FC236}">
                <a16:creationId xmlns:a16="http://schemas.microsoft.com/office/drawing/2014/main" id="{E003561E-DEC8-402B-B586-08E82D3847F8}"/>
              </a:ext>
            </a:extLst>
          </p:cNvPr>
          <p:cNvSpPr>
            <a:spLocks xmlns:a="http://schemas.openxmlformats.org/drawingml/2006/main" noGrp="1"/>
          </p:cNvSpPr>
          <p:nvPr/>
        </p:nvSpPr>
        <p:spPr>
          <a:xfrm xmlns:a="http://schemas.openxmlformats.org/drawingml/2006/main">
            <a:off x="609600" y="7581900"/>
            <a:ext cx="13982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5C6064"/>
                </a:solidFill>
                <a:latin typeface="Arial Unicode MS"/>
                <a:ea typeface="Arial Unicode MS"/>
                <a:cs typeface="Arial Unicode MS"/>
              </a:defRPr>
            </a:pPr>
            <a:r>
              <a:rPr sz="1650" b="0">
                <a:solidFill>
                  <a:srgbClr val="5C6064"/>
                </a:solidFill>
                <a:latin typeface="Arial Unicode MS"/>
                <a:ea typeface="Arial Unicode MS"/>
                <a:cs typeface="Arial Unicode MS"/>
              </a:rPr>
              <a:t>数组顺序不代表主职业。职业映射仍为智能体初审，强制选择与 Other 仅用于初步实验。</a:t>
            </a:r>
          </a:p>
        </p:txBody>
      </p:sp>
    </p:spTree>
    <p:extLst>
      <p:ext uri="{BB962C8B-B14F-4D97-AF65-F5344CB8AC3E}">
        <p14:creationId xmlns:p14="http://schemas.microsoft.com/office/powerpoint/2010/main" val="19348677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28ABFFE-C4E1-4BD6-AF37-93CCE9BC8C94}"/>
              </a:ext>
            </a:extLst>
          </p:cNvPr>
          <p:cNvSpPr>
            <a:spLocks xmlns:a="http://schemas.openxmlformats.org/drawingml/2006/main" noGrp="1"/>
          </p:cNvSpPr>
          <p:nvPr/>
        </p:nvSpPr>
        <p:spPr>
          <a:xfrm xmlns:a="http://schemas.openxmlformats.org/drawingml/2006/main">
            <a:off x="571500" y="38100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625" b="1">
                <a:solidFill>
                  <a:srgbClr val="111111"/>
                </a:solidFill>
                <a:latin typeface="Arial Unicode MS"/>
                <a:ea typeface="Arial Unicode MS"/>
                <a:cs typeface="Arial Unicode MS"/>
              </a:defRPr>
            </a:pPr>
            <a:r>
              <a:rPr sz="2625" b="1">
                <a:solidFill>
                  <a:srgbClr val="111111"/>
                </a:solidFill>
                <a:latin typeface="Arial Unicode MS"/>
                <a:ea typeface="Arial Unicode MS"/>
                <a:cs typeface="Arial Unicode MS"/>
              </a:rPr>
              <a:t>Freebase 的关系分组</a:t>
            </a:r>
          </a:p>
        </p:txBody>
      </p:sp>
      <p:sp>
        <p:nvSpPr>
          <p:cNvPr id="2" name="">
            <a:extLst xmlns:a="http://schemas.openxmlformats.org/drawingml/2006/main">
              <a:ext uri="{FF2B5EF4-FFF2-40B4-BE49-F238E27FC236}">
                <a16:creationId xmlns:a16="http://schemas.microsoft.com/office/drawing/2014/main" id="{44038897-EB39-4E0B-8E33-5A3BE8A8500E}"/>
              </a:ext>
            </a:extLst>
          </p:cNvPr>
          <p:cNvSpPr>
            <a:spLocks xmlns:a="http://schemas.openxmlformats.org/drawingml/2006/main" noGrp="1"/>
          </p:cNvSpPr>
          <p:nvPr/>
        </p:nvSpPr>
        <p:spPr>
          <a:xfrm xmlns:a="http://schemas.openxmlformats.org/drawingml/2006/main">
            <a:off x="571500" y="1057275"/>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C6064"/>
                </a:solidFill>
                <a:latin typeface="Arial Unicode MS"/>
                <a:ea typeface="Arial Unicode MS"/>
                <a:cs typeface="Arial Unicode MS"/>
              </a:defRPr>
            </a:pPr>
            <a:r>
              <a:rPr sz="1725" b="0">
                <a:solidFill>
                  <a:srgbClr val="5C6064"/>
                </a:solidFill>
                <a:latin typeface="Arial Unicode MS"/>
                <a:ea typeface="Arial Unicode MS"/>
                <a:cs typeface="Arial Unicode MS"/>
              </a:rPr>
              <a:t>参照主实验的 inherited / acquired 定义，按当前数据的可用关系细分</a:t>
            </a:r>
          </a:p>
        </p:txBody>
      </p:sp>
      <p:graphicFrame>
        <p:nvGraphicFramePr>
          <p:cNvPr id="13" name=""/>
          <p:cNvGraphicFramePr/>
          <p:nvPr/>
        </p:nvGraphicFramePr>
        <p:xfrm>
          <a:off xmlns:a="http://schemas.openxmlformats.org/drawingml/2006/main" x="571500" y="1847850"/>
          <a:ext xmlns:a="http://schemas.openxmlformats.org/drawingml/2006/main" cx="14097000" cy="5200650"/>
        </p:xfrm>
        <a:graphic xmlns:a="http://schemas.openxmlformats.org/drawingml/2006/main">
          <a:graphicData uri="http://schemas.openxmlformats.org/drawingml/2006/table">
            <a:tbl>
              <a:tblPr firstRow="0" firstCol="0" bandRow="0"/>
              <a:tblGrid>
                <a:gridCol w="4191000"/>
                <a:gridCol w="9906000"/>
              </a:tblGrid>
              <a:tr h="866775">
                <a:tc>
                  <a:txBody>
                    <a:bodyPr wrap="square" lIns="133350" tIns="76200" rIns="171450" bIns="76200">
                      <a:noAutofit/>
                    </a:bodyPr>
                    <a:lstStyle/>
                    <a:p>
                      <a:pPr algn="l"/>
                      <a:r>
                        <a:rPr sz="2175" b="1">
                          <a:solidFill>
                            <a:srgbClr val="202124"/>
                          </a:solidFill>
                          <a:latin typeface="Arial Unicode MS"/>
                          <a:ea typeface="Arial Unicode MS"/>
                          <a:cs typeface="Arial Unicode MS"/>
                        </a:rPr>
                        <a:t>关系组</a:t>
                      </a:r>
                    </a:p>
                  </a:txBody>
                  <a:tcPr marL="91440" marR="91440" marT="45720" marB="45720" anchor="ctr">
                    <a:solidFill>
                      <a:srgbClr val="FFFFFF"/>
                    </a:solidFill>
                  </a:tcPr>
                </a:tc>
                <a:tc>
                  <a:txBody>
                    <a:bodyPr wrap="square" lIns="133350" tIns="76200" rIns="171450" bIns="76200">
                      <a:noAutofit/>
                    </a:bodyPr>
                    <a:lstStyle/>
                    <a:p>
                      <a:pPr algn="l"/>
                      <a:r>
                        <a:rPr sz="2175" b="1">
                          <a:solidFill>
                            <a:srgbClr val="202124"/>
                          </a:solidFill>
                          <a:latin typeface="Arial Unicode MS"/>
                          <a:ea typeface="Arial Unicode MS"/>
                          <a:cs typeface="Arial Unicode MS"/>
                        </a:rPr>
                        <a:t>包含的规范关系</a:t>
                      </a:r>
                    </a:p>
                  </a:txBody>
                  <a:tcPr marL="91440" marR="91440" marT="45720" marB="45720" anchor="ctr">
                    <a:solidFill>
                      <a:srgbClr val="FFFFFF"/>
                    </a:solidFill>
                  </a:tcPr>
                </a:tc>
              </a:tr>
              <a:tr h="866775">
                <a:tc>
                  <a:txBody>
                    <a:bodyPr wrap="square" lIns="133350" tIns="76200" rIns="171450" bIns="76200">
                      <a:noAutofit/>
                    </a:bodyPr>
                    <a:lstStyle/>
                    <a:p>
                      <a:pPr algn="l"/>
                      <a:r>
                        <a:rPr sz="2100" b="0">
                          <a:solidFill>
                            <a:srgbClr val="202124"/>
                          </a:solidFill>
                          <a:latin typeface="Arial Unicode MS"/>
                          <a:ea typeface="Arial Unicode MS"/>
                          <a:cs typeface="Arial Unicode MS"/>
                        </a:rPr>
                        <a:t>Inherited ties</a:t>
                      </a:r>
                    </a:p>
                  </a:txBody>
                  <a:tcPr marL="91440" marR="91440" marT="45720" marB="45720" anchor="ctr">
                    <a:solidFill>
                      <a:srgbClr val="FFFFFF"/>
                    </a:solidFill>
                  </a:tcPr>
                </a:tc>
                <a:tc>
                  <a:txBody>
                    <a:bodyPr wrap="square" lIns="133350" tIns="76200" rIns="171450" bIns="76200">
                      <a:noAutofit/>
                    </a:bodyPr>
                    <a:lstStyle/>
                    <a:p>
                      <a:pPr algn="l"/>
                      <a:r>
                        <a:rPr sz="2100" b="0">
                          <a:solidFill>
                            <a:srgbClr val="202124"/>
                          </a:solidFill>
                          <a:latin typeface="Arial Unicode MS"/>
                          <a:ea typeface="Arial Unicode MS"/>
                          <a:cs typeface="Arial Unicode MS"/>
                        </a:rPr>
                        <a:t>child, sibling</a:t>
                      </a:r>
                    </a:p>
                  </a:txBody>
                  <a:tcPr marL="91440" marR="91440" marT="45720" marB="45720" anchor="ctr">
                    <a:solidFill>
                      <a:srgbClr val="FFFFFF"/>
                    </a:solidFill>
                  </a:tcPr>
                </a:tc>
              </a:tr>
              <a:tr h="866775">
                <a:tc>
                  <a:txBody>
                    <a:bodyPr wrap="square" lIns="133350" tIns="76200" rIns="171450" bIns="76200">
                      <a:noAutofit/>
                    </a:bodyPr>
                    <a:lstStyle/>
                    <a:p>
                      <a:pPr algn="l"/>
                      <a:r>
                        <a:rPr sz="2100" b="0">
                          <a:solidFill>
                            <a:srgbClr val="202124"/>
                          </a:solidFill>
                          <a:latin typeface="Arial Unicode MS"/>
                          <a:ea typeface="Arial Unicode MS"/>
                          <a:cs typeface="Arial Unicode MS"/>
                        </a:rPr>
                        <a:t>Intimate partnership</a:t>
                      </a:r>
                    </a:p>
                  </a:txBody>
                  <a:tcPr marL="91440" marR="91440" marT="45720" marB="45720" anchor="ctr">
                    <a:solidFill>
                      <a:srgbClr val="FFFFFF"/>
                    </a:solidFill>
                  </a:tcPr>
                </a:tc>
                <a:tc>
                  <a:txBody>
                    <a:bodyPr wrap="square" lIns="133350" tIns="76200" rIns="171450" bIns="76200">
                      <a:noAutofit/>
                    </a:bodyPr>
                    <a:lstStyle/>
                    <a:p>
                      <a:pPr algn="l"/>
                      <a:r>
                        <a:rPr sz="2100" b="0">
                          <a:solidFill>
                            <a:srgbClr val="202124"/>
                          </a:solidFill>
                          <a:latin typeface="Arial Unicode MS"/>
                          <a:ea typeface="Arial Unicode MS"/>
                          <a:cs typeface="Arial Unicode MS"/>
                        </a:rPr>
                        <a:t>partner, celebrity_romantic_relationship</a:t>
                      </a:r>
                    </a:p>
                  </a:txBody>
                  <a:tcPr marL="91440" marR="91440" marT="45720" marB="45720" anchor="ctr">
                    <a:solidFill>
                      <a:srgbClr val="FFFFFF"/>
                    </a:solidFill>
                  </a:tcPr>
                </a:tc>
              </a:tr>
              <a:tr h="866775">
                <a:tc>
                  <a:txBody>
                    <a:bodyPr wrap="square" lIns="133350" tIns="76200" rIns="171450" bIns="76200">
                      <a:noAutofit/>
                    </a:bodyPr>
                    <a:lstStyle/>
                    <a:p>
                      <a:pPr algn="l"/>
                      <a:r>
                        <a:rPr sz="2100" b="0">
                          <a:solidFill>
                            <a:srgbClr val="202124"/>
                          </a:solidFill>
                          <a:latin typeface="Arial Unicode MS"/>
                          <a:ea typeface="Arial Unicode MS"/>
                          <a:cs typeface="Arial Unicode MS"/>
                        </a:rPr>
                        <a:t>Education / mentorship</a:t>
                      </a:r>
                    </a:p>
                  </a:txBody>
                  <a:tcPr marL="91440" marR="91440" marT="45720" marB="45720" anchor="ctr">
                    <a:solidFill>
                      <a:srgbClr val="FFFFFF"/>
                    </a:solidFill>
                  </a:tcPr>
                </a:tc>
                <a:tc>
                  <a:txBody>
                    <a:bodyPr wrap="square" lIns="133350" tIns="76200" rIns="171450" bIns="76200">
                      <a:noAutofit/>
                    </a:bodyPr>
                    <a:lstStyle/>
                    <a:p>
                      <a:pPr algn="l"/>
                      <a:r>
                        <a:rPr sz="2100" b="0">
                          <a:solidFill>
                            <a:srgbClr val="202124"/>
                          </a:solidFill>
                          <a:latin typeface="Arial Unicode MS"/>
                          <a:ea typeface="Arial Unicode MS"/>
                          <a:cs typeface="Arial Unicode MS"/>
                        </a:rPr>
                        <a:t>academic_advisor_raw, martial_arts_instructor_raw</a:t>
                      </a:r>
                    </a:p>
                  </a:txBody>
                  <a:tcPr marL="91440" marR="91440" marT="45720" marB="45720" anchor="ctr">
                    <a:solidFill>
                      <a:srgbClr val="FFFFFF"/>
                    </a:solidFill>
                  </a:tcPr>
                </a:tc>
              </a:tr>
              <a:tr h="866775">
                <a:tc>
                  <a:txBody>
                    <a:bodyPr wrap="square" lIns="133350" tIns="76200" rIns="171450" bIns="76200">
                      <a:noAutofit/>
                    </a:bodyPr>
                    <a:lstStyle/>
                    <a:p>
                      <a:pPr algn="l"/>
                      <a:r>
                        <a:rPr sz="2100" b="0">
                          <a:solidFill>
                            <a:srgbClr val="202124"/>
                          </a:solidFill>
                          <a:latin typeface="Arial Unicode MS"/>
                          <a:ea typeface="Arial Unicode MS"/>
                          <a:cs typeface="Arial Unicode MS"/>
                        </a:rPr>
                        <a:t>Influence / succession</a:t>
                      </a:r>
                    </a:p>
                  </a:txBody>
                  <a:tcPr marL="91440" marR="91440" marT="45720" marB="45720" anchor="ctr">
                    <a:solidFill>
                      <a:srgbClr val="FFFFFF"/>
                    </a:solidFill>
                  </a:tcPr>
                </a:tc>
                <a:tc>
                  <a:txBody>
                    <a:bodyPr wrap="square" lIns="133350" tIns="76200" rIns="171450" bIns="76200">
                      <a:noAutofit/>
                    </a:bodyPr>
                    <a:lstStyle/>
                    <a:p>
                      <a:pPr algn="l"/>
                      <a:r>
                        <a:rPr sz="2100" b="0">
                          <a:solidFill>
                            <a:srgbClr val="202124"/>
                          </a:solidFill>
                          <a:latin typeface="Arial Unicode MS"/>
                          <a:ea typeface="Arial Unicode MS"/>
                          <a:cs typeface="Arial Unicode MS"/>
                        </a:rPr>
                        <a:t>influenced_by</a:t>
                      </a:r>
                    </a:p>
                  </a:txBody>
                  <a:tcPr marL="91440" marR="91440" marT="45720" marB="45720" anchor="ctr">
                    <a:solidFill>
                      <a:srgbClr val="FFFFFF"/>
                    </a:solidFill>
                  </a:tcPr>
                </a:tc>
              </a:tr>
              <a:tr h="866775">
                <a:tc>
                  <a:txBody>
                    <a:bodyPr wrap="square" lIns="133350" tIns="76200" rIns="171450" bIns="76200">
                      <a:noAutofit/>
                    </a:bodyPr>
                    <a:lstStyle/>
                    <a:p>
                      <a:pPr algn="l"/>
                      <a:r>
                        <a:rPr sz="2100" b="0">
                          <a:solidFill>
                            <a:srgbClr val="202124"/>
                          </a:solidFill>
                          <a:latin typeface="Arial Unicode MS"/>
                          <a:ea typeface="Arial Unicode MS"/>
                          <a:cs typeface="Arial Unicode MS"/>
                        </a:rPr>
                        <a:t>Other acquired ties</a:t>
                      </a:r>
                    </a:p>
                  </a:txBody>
                  <a:tcPr marL="91440" marR="91440" marT="45720" marB="45720" anchor="ctr">
                    <a:solidFill>
                      <a:srgbClr val="FFFFFF"/>
                    </a:solidFill>
                  </a:tcPr>
                </a:tc>
                <a:tc>
                  <a:txBody>
                    <a:bodyPr wrap="square" lIns="133350" tIns="76200" rIns="171450" bIns="76200">
                      <a:noAutofit/>
                    </a:bodyPr>
                    <a:lstStyle/>
                    <a:p>
                      <a:pPr algn="l"/>
                      <a:r>
                        <a:rPr sz="2100" b="0">
                          <a:solidFill>
                            <a:srgbClr val="202124"/>
                          </a:solidFill>
                          <a:latin typeface="Arial Unicode MS"/>
                          <a:ea typeface="Arial Unicode MS"/>
                          <a:cs typeface="Arial Unicode MS"/>
                        </a:rPr>
                        <a:t>peer, celebrity_friend</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7E4AB94-4B70-4D6D-BD09-E4FCC6BBF928}"/>
              </a:ext>
            </a:extLst>
          </p:cNvPr>
          <p:cNvSpPr>
            <a:spLocks xmlns:a="http://schemas.openxmlformats.org/drawingml/2006/main" noGrp="1"/>
          </p:cNvSpPr>
          <p:nvPr/>
        </p:nvSpPr>
        <p:spPr>
          <a:xfrm xmlns:a="http://schemas.openxmlformats.org/drawingml/2006/main">
            <a:off x="571500" y="2714625"/>
            <a:ext cx="140970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5" name="">
            <a:extLst xmlns:a="http://schemas.openxmlformats.org/drawingml/2006/main">
              <a:ext uri="{FF2B5EF4-FFF2-40B4-BE49-F238E27FC236}">
                <a16:creationId xmlns:a16="http://schemas.microsoft.com/office/drawing/2014/main" id="{544D379F-AB26-4E7F-AE43-F9117F726CFE}"/>
              </a:ext>
            </a:extLst>
          </p:cNvPr>
          <p:cNvSpPr>
            <a:spLocks xmlns:a="http://schemas.openxmlformats.org/drawingml/2006/main" noGrp="1"/>
          </p:cNvSpPr>
          <p:nvPr/>
        </p:nvSpPr>
        <p:spPr>
          <a:xfrm xmlns:a="http://schemas.openxmlformats.org/drawingml/2006/main">
            <a:off x="571500" y="3581400"/>
            <a:ext cx="1409700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6" name="">
            <a:extLst xmlns:a="http://schemas.openxmlformats.org/drawingml/2006/main">
              <a:ext uri="{FF2B5EF4-FFF2-40B4-BE49-F238E27FC236}">
                <a16:creationId xmlns:a16="http://schemas.microsoft.com/office/drawing/2014/main" id="{94CCD218-D46C-40FF-8A01-C1563C6DAF7D}"/>
              </a:ext>
            </a:extLst>
          </p:cNvPr>
          <p:cNvSpPr>
            <a:spLocks xmlns:a="http://schemas.openxmlformats.org/drawingml/2006/main" noGrp="1"/>
          </p:cNvSpPr>
          <p:nvPr/>
        </p:nvSpPr>
        <p:spPr>
          <a:xfrm xmlns:a="http://schemas.openxmlformats.org/drawingml/2006/main">
            <a:off x="571500" y="4448175"/>
            <a:ext cx="1409700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7" name="">
            <a:extLst xmlns:a="http://schemas.openxmlformats.org/drawingml/2006/main">
              <a:ext uri="{FF2B5EF4-FFF2-40B4-BE49-F238E27FC236}">
                <a16:creationId xmlns:a16="http://schemas.microsoft.com/office/drawing/2014/main" id="{F9A913D3-4482-4CC4-A60E-62543E1A55C6}"/>
              </a:ext>
            </a:extLst>
          </p:cNvPr>
          <p:cNvSpPr>
            <a:spLocks xmlns:a="http://schemas.openxmlformats.org/drawingml/2006/main" noGrp="1"/>
          </p:cNvSpPr>
          <p:nvPr/>
        </p:nvSpPr>
        <p:spPr>
          <a:xfrm xmlns:a="http://schemas.openxmlformats.org/drawingml/2006/main">
            <a:off x="571500" y="5314950"/>
            <a:ext cx="1409700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8" name="">
            <a:extLst xmlns:a="http://schemas.openxmlformats.org/drawingml/2006/main">
              <a:ext uri="{FF2B5EF4-FFF2-40B4-BE49-F238E27FC236}">
                <a16:creationId xmlns:a16="http://schemas.microsoft.com/office/drawing/2014/main" id="{EF85F272-6E4C-4C7A-95AE-2071F8BDAB3B}"/>
              </a:ext>
            </a:extLst>
          </p:cNvPr>
          <p:cNvSpPr>
            <a:spLocks xmlns:a="http://schemas.openxmlformats.org/drawingml/2006/main" noGrp="1"/>
          </p:cNvSpPr>
          <p:nvPr/>
        </p:nvSpPr>
        <p:spPr>
          <a:xfrm xmlns:a="http://schemas.openxmlformats.org/drawingml/2006/main">
            <a:off x="571500" y="6181725"/>
            <a:ext cx="1409700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9" name="">
            <a:extLst xmlns:a="http://schemas.openxmlformats.org/drawingml/2006/main">
              <a:ext uri="{FF2B5EF4-FFF2-40B4-BE49-F238E27FC236}">
                <a16:creationId xmlns:a16="http://schemas.microsoft.com/office/drawing/2014/main" id="{5C227FB0-A482-4713-A2BB-C33904B01DCE}"/>
              </a:ext>
            </a:extLst>
          </p:cNvPr>
          <p:cNvSpPr>
            <a:spLocks xmlns:a="http://schemas.openxmlformats.org/drawingml/2006/main" noGrp="1"/>
          </p:cNvSpPr>
          <p:nvPr/>
        </p:nvSpPr>
        <p:spPr>
          <a:xfrm xmlns:a="http://schemas.openxmlformats.org/drawingml/2006/main">
            <a:off x="609600" y="7343775"/>
            <a:ext cx="13982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C6064"/>
                </a:solidFill>
                <a:latin typeface="Arial Unicode MS"/>
                <a:ea typeface="Arial Unicode MS"/>
                <a:cs typeface="Arial Unicode MS"/>
              </a:defRPr>
            </a:pPr>
            <a:r>
              <a:rPr sz="1725" b="0">
                <a:solidFill>
                  <a:srgbClr val="5C6064"/>
                </a:solidFill>
                <a:latin typeface="Arial Unicode MS"/>
                <a:ea typeface="Arial Unicode MS"/>
                <a:cs typeface="Arial Unicode MS"/>
              </a:rPr>
              <a:t>伴侣关系归 acquired。5 个关系组各含生成反向，共 10 种 RGCN 消息类型。</a:t>
            </a:r>
          </a:p>
        </p:txBody>
      </p:sp>
      <p:sp>
        <p:nvSpPr>
          <p:cNvPr id="10" name="">
            <a:extLst xmlns:a="http://schemas.openxmlformats.org/drawingml/2006/main">
              <a:ext uri="{FF2B5EF4-FFF2-40B4-BE49-F238E27FC236}">
                <a16:creationId xmlns:a16="http://schemas.microsoft.com/office/drawing/2014/main" id="{4CA1F178-5B26-46F5-91B7-CB04CAFE7471}"/>
              </a:ext>
            </a:extLst>
          </p:cNvPr>
          <p:cNvSpPr>
            <a:spLocks xmlns:a="http://schemas.openxmlformats.org/drawingml/2006/main" noGrp="1"/>
          </p:cNvSpPr>
          <p:nvPr/>
        </p:nvSpPr>
        <p:spPr>
          <a:xfrm xmlns:a="http://schemas.openxmlformats.org/drawingml/2006/main">
            <a:off x="609600" y="7791450"/>
            <a:ext cx="13982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C6064"/>
                </a:solidFill>
                <a:latin typeface="Arial Unicode MS"/>
                <a:ea typeface="Arial Unicode MS"/>
                <a:cs typeface="Arial Unicode MS"/>
              </a:defRPr>
            </a:pPr>
            <a:r>
              <a:rPr sz="1725" b="0">
                <a:solidFill>
                  <a:srgbClr val="5C6064"/>
                </a:solidFill>
                <a:latin typeface="Arial Unicode MS"/>
                <a:ea typeface="Arial Unicode MS"/>
                <a:cs typeface="Arial Unicode MS"/>
              </a:rPr>
              <a:t>时期为 &lt;1500、1500–1900，之后每 20 年一窗至 2001–2020。人物可进入多个时期图。</a:t>
            </a:r>
          </a:p>
        </p:txBody>
      </p:sp>
    </p:spTree>
    <p:extLst>
      <p:ext uri="{BB962C8B-B14F-4D97-AF65-F5344CB8AC3E}">
        <p14:creationId xmlns:p14="http://schemas.microsoft.com/office/powerpoint/2010/main" val="3353442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8A05F9F-FB2D-4560-A881-F3B3019A30E6}"/>
              </a:ext>
            </a:extLst>
          </p:cNvPr>
          <p:cNvSpPr>
            <a:spLocks xmlns:a="http://schemas.openxmlformats.org/drawingml/2006/main" noGrp="1"/>
          </p:cNvSpPr>
          <p:nvPr/>
        </p:nvSpPr>
        <p:spPr>
          <a:xfrm xmlns:a="http://schemas.openxmlformats.org/drawingml/2006/main">
            <a:off x="571500" y="38100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625" b="1">
                <a:solidFill>
                  <a:srgbClr val="111111"/>
                </a:solidFill>
                <a:latin typeface="Arial Unicode MS"/>
                <a:ea typeface="Arial Unicode MS"/>
                <a:cs typeface="Arial Unicode MS"/>
              </a:defRPr>
            </a:pPr>
            <a:r>
              <a:rPr sz="2625" b="1">
                <a:solidFill>
                  <a:srgbClr val="111111"/>
                </a:solidFill>
                <a:latin typeface="Arial Unicode MS"/>
                <a:ea typeface="Arial Unicode MS"/>
                <a:cs typeface="Arial Unicode MS"/>
              </a:rPr>
              <a:t>Freebase 各时期的 RGCN 准确率与 Macro-F1</a:t>
            </a:r>
          </a:p>
        </p:txBody>
      </p:sp>
      <p:sp>
        <p:nvSpPr>
          <p:cNvPr id="2" name="">
            <a:extLst xmlns:a="http://schemas.openxmlformats.org/drawingml/2006/main">
              <a:ext uri="{FF2B5EF4-FFF2-40B4-BE49-F238E27FC236}">
                <a16:creationId xmlns:a16="http://schemas.microsoft.com/office/drawing/2014/main" id="{BC876B3F-434B-4166-A1F0-999119255EDE}"/>
              </a:ext>
            </a:extLst>
          </p:cNvPr>
          <p:cNvSpPr>
            <a:spLocks xmlns:a="http://schemas.openxmlformats.org/drawingml/2006/main" noGrp="1"/>
          </p:cNvSpPr>
          <p:nvPr/>
        </p:nvSpPr>
        <p:spPr>
          <a:xfrm xmlns:a="http://schemas.openxmlformats.org/drawingml/2006/main">
            <a:off x="571500" y="1057275"/>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C6064"/>
                </a:solidFill>
                <a:latin typeface="Arial Unicode MS"/>
                <a:ea typeface="Arial Unicode MS"/>
                <a:cs typeface="Arial Unicode MS"/>
              </a:defRPr>
            </a:pPr>
            <a:r>
              <a:rPr sz="1725" b="0">
                <a:solidFill>
                  <a:srgbClr val="5C6064"/>
                </a:solidFill>
                <a:latin typeface="Arial Unicode MS"/>
                <a:ea typeface="Arial Unicode MS"/>
                <a:cs typeface="Arial Unicode MS"/>
              </a:rPr>
              <a:t>Multi-group 关系分组，测试集结果</a:t>
            </a:r>
          </a:p>
        </p:txBody>
      </p:sp>
      <p:graphicFrame>
        <p:nvGraphicFramePr>
          <p:cNvPr id="16" name=""/>
          <p:cNvGraphicFramePr/>
          <p:nvPr/>
        </p:nvGraphicFramePr>
        <p:xfrm>
          <a:off xmlns:a="http://schemas.openxmlformats.org/drawingml/2006/main" x="571500" y="1714500"/>
          <a:ext xmlns:a="http://schemas.openxmlformats.org/drawingml/2006/main" cx="14097000" cy="5486400"/>
        </p:xfrm>
        <a:graphic xmlns:a="http://schemas.openxmlformats.org/drawingml/2006/main">
          <a:graphicData uri="http://schemas.openxmlformats.org/drawingml/2006/table">
            <a:tbl>
              <a:tblPr firstRow="0" firstCol="0" bandRow="0"/>
              <a:tblGrid>
                <a:gridCol w="4000500"/>
                <a:gridCol w="2762250"/>
                <a:gridCol w="3667125"/>
                <a:gridCol w="3667125"/>
              </a:tblGrid>
              <a:tr h="609600">
                <a:tc>
                  <a:txBody>
                    <a:bodyPr wrap="square" lIns="133350" tIns="76200" rIns="171450" bIns="76200">
                      <a:noAutofit/>
                    </a:bodyPr>
                    <a:lstStyle/>
                    <a:p>
                      <a:pPr algn="l"/>
                      <a:r>
                        <a:rPr sz="2175" b="1">
                          <a:solidFill>
                            <a:srgbClr val="202124"/>
                          </a:solidFill>
                          <a:latin typeface="Arial Unicode MS"/>
                          <a:ea typeface="Arial Unicode MS"/>
                          <a:cs typeface="Arial Unicode MS"/>
                        </a:rPr>
                        <a:t>时期</a:t>
                      </a:r>
                    </a:p>
                  </a:txBody>
                  <a:tcPr marL="91440" marR="91440" marT="45720" marB="45720" anchor="ctr">
                    <a:solidFill>
                      <a:srgbClr val="FFFFFF"/>
                    </a:solidFill>
                  </a:tcPr>
                </a:tc>
                <a:tc>
                  <a:txBody>
                    <a:bodyPr wrap="square" lIns="133350" tIns="76200" rIns="171450" bIns="76200">
                      <a:noAutofit/>
                    </a:bodyPr>
                    <a:lstStyle/>
                    <a:p>
                      <a:pPr algn="r"/>
                      <a:r>
                        <a:rPr sz="2175" b="1">
                          <a:solidFill>
                            <a:srgbClr val="202124"/>
                          </a:solidFill>
                          <a:latin typeface="Arial Unicode MS"/>
                          <a:ea typeface="Arial Unicode MS"/>
                          <a:cs typeface="Arial Unicode MS"/>
                        </a:rPr>
                        <a:t>测试人数</a:t>
                      </a:r>
                    </a:p>
                  </a:txBody>
                  <a:tcPr marL="91440" marR="91440" marT="45720" marB="45720" anchor="ctr">
                    <a:solidFill>
                      <a:srgbClr val="FFFFFF"/>
                    </a:solidFill>
                  </a:tcPr>
                </a:tc>
                <a:tc>
                  <a:txBody>
                    <a:bodyPr wrap="square" lIns="133350" tIns="76200" rIns="171450" bIns="76200">
                      <a:noAutofit/>
                    </a:bodyPr>
                    <a:lstStyle/>
                    <a:p>
                      <a:pPr algn="r"/>
                      <a:r>
                        <a:rPr sz="2175" b="1">
                          <a:solidFill>
                            <a:srgbClr val="202124"/>
                          </a:solidFill>
                          <a:latin typeface="Arial Unicode MS"/>
                          <a:ea typeface="Arial Unicode MS"/>
                          <a:cs typeface="Arial Unicode MS"/>
                        </a:rPr>
                        <a:t>准确率 (%)</a:t>
                      </a:r>
                    </a:p>
                  </a:txBody>
                  <a:tcPr marL="91440" marR="91440" marT="45720" marB="45720" anchor="ctr">
                    <a:solidFill>
                      <a:srgbClr val="FFFFFF"/>
                    </a:solidFill>
                  </a:tcPr>
                </a:tc>
                <a:tc>
                  <a:txBody>
                    <a:bodyPr wrap="square" lIns="133350" tIns="76200" rIns="171450" bIns="76200">
                      <a:noAutofit/>
                    </a:bodyPr>
                    <a:lstStyle/>
                    <a:p>
                      <a:pPr algn="r"/>
                      <a:r>
                        <a:rPr sz="2175" b="1">
                          <a:solidFill>
                            <a:srgbClr val="202124"/>
                          </a:solidFill>
                          <a:latin typeface="Arial Unicode MS"/>
                          <a:ea typeface="Arial Unicode MS"/>
                          <a:cs typeface="Arial Unicode MS"/>
                        </a:rPr>
                        <a:t>Macro-F1 (%)</a:t>
                      </a:r>
                    </a:p>
                  </a:txBody>
                  <a:tcPr marL="91440" marR="91440" marT="45720" marB="45720" anchor="ctr">
                    <a:solidFill>
                      <a:srgbClr val="FFFFFF"/>
                    </a:solidFill>
                  </a:tcPr>
                </a:tc>
              </a:tr>
              <a:tr h="609600">
                <a:tc>
                  <a:txBody>
                    <a:bodyPr wrap="square" lIns="133350" tIns="76200" rIns="171450" bIns="76200">
                      <a:noAutofit/>
                    </a:bodyPr>
                    <a:lstStyle/>
                    <a:p>
                      <a:pPr algn="l"/>
                      <a:r>
                        <a:rPr sz="2175" b="0">
                          <a:solidFill>
                            <a:srgbClr val="202124"/>
                          </a:solidFill>
                          <a:latin typeface="Arial Unicode MS"/>
                          <a:ea typeface="Arial Unicode MS"/>
                          <a:cs typeface="Arial Unicode MS"/>
                        </a:rPr>
                        <a:t>&lt;1500</a:t>
                      </a:r>
                    </a:p>
                  </a:txBody>
                  <a:tcPr marL="91440" marR="91440" marT="45720" marB="45720" anchor="ctr">
                    <a:solidFill>
                      <a:srgbClr val="FFFFFF"/>
                    </a:solidFill>
                  </a:tcPr>
                </a:tc>
                <a:tc>
                  <a:txBody>
                    <a:bodyPr wrap="square" lIns="133350" tIns="76200" rIns="171450" bIns="76200">
                      <a:noAutofit/>
                    </a:bodyPr>
                    <a:lstStyle/>
                    <a:p>
                      <a:pPr algn="r"/>
                      <a:r>
                        <a:rPr sz="2175" b="0">
                          <a:solidFill>
                            <a:srgbClr val="202124"/>
                          </a:solidFill>
                          <a:latin typeface="Arial Unicode MS"/>
                          <a:ea typeface="Arial Unicode MS"/>
                          <a:cs typeface="Arial Unicode MS"/>
                        </a:rPr>
                        <a:t>100</a:t>
                      </a:r>
                    </a:p>
                  </a:txBody>
                  <a:tcPr marL="91440" marR="91440" marT="45720" marB="45720" anchor="ctr">
                    <a:solidFill>
                      <a:srgbClr val="FFFFFF"/>
                    </a:solidFill>
                  </a:tcPr>
                </a:tc>
                <a:tc>
                  <a:txBody>
                    <a:bodyPr wrap="square" lIns="133350" tIns="76200" rIns="171450" bIns="76200">
                      <a:noAutofit/>
                    </a:bodyPr>
                    <a:lstStyle/>
                    <a:p>
                      <a:pPr algn="r"/>
                      <a:r>
                        <a:rPr sz="2175" b="0">
                          <a:solidFill>
                            <a:srgbClr val="202124"/>
                          </a:solidFill>
                          <a:latin typeface="Arial Unicode MS"/>
                          <a:ea typeface="Arial Unicode MS"/>
                          <a:cs typeface="Arial Unicode MS"/>
                        </a:rPr>
                        <a:t>58.00</a:t>
                      </a:r>
                    </a:p>
                  </a:txBody>
                  <a:tcPr marL="91440" marR="91440" marT="45720" marB="45720" anchor="ctr">
                    <a:solidFill>
                      <a:srgbClr val="FFFFFF"/>
                    </a:solidFill>
                  </a:tcPr>
                </a:tc>
                <a:tc>
                  <a:txBody>
                    <a:bodyPr wrap="square" lIns="133350" tIns="76200" rIns="171450" bIns="76200">
                      <a:noAutofit/>
                    </a:bodyPr>
                    <a:lstStyle/>
                    <a:p>
                      <a:pPr algn="r"/>
                      <a:r>
                        <a:rPr sz="2175" b="0">
                          <a:solidFill>
                            <a:srgbClr val="202124"/>
                          </a:solidFill>
                          <a:latin typeface="Arial Unicode MS"/>
                          <a:ea typeface="Arial Unicode MS"/>
                          <a:cs typeface="Arial Unicode MS"/>
                        </a:rPr>
                        <a:t>41.32</a:t>
                      </a:r>
                    </a:p>
                  </a:txBody>
                  <a:tcPr marL="91440" marR="91440" marT="45720" marB="45720" anchor="ctr">
                    <a:solidFill>
                      <a:srgbClr val="FFFFFF"/>
                    </a:solidFill>
                  </a:tcPr>
                </a:tc>
              </a:tr>
              <a:tr h="609600">
                <a:tc>
                  <a:txBody>
                    <a:bodyPr wrap="square" lIns="133350" tIns="76200" rIns="171450" bIns="76200">
                      <a:noAutofit/>
                    </a:bodyPr>
                    <a:lstStyle/>
                    <a:p>
                      <a:pPr algn="l"/>
                      <a:r>
                        <a:rPr sz="2175" b="0">
                          <a:solidFill>
                            <a:srgbClr val="202124"/>
                          </a:solidFill>
                          <a:latin typeface="Arial Unicode MS"/>
                          <a:ea typeface="Arial Unicode MS"/>
                          <a:cs typeface="Arial Unicode MS"/>
                        </a:rPr>
                        <a:t>1500–1900</a:t>
                      </a:r>
                    </a:p>
                  </a:txBody>
                  <a:tcPr marL="91440" marR="91440" marT="45720" marB="45720" anchor="ctr">
                    <a:solidFill>
                      <a:srgbClr val="FFFFFF"/>
                    </a:solidFill>
                  </a:tcPr>
                </a:tc>
                <a:tc>
                  <a:txBody>
                    <a:bodyPr wrap="square" lIns="133350" tIns="76200" rIns="171450" bIns="76200">
                      <a:noAutofit/>
                    </a:bodyPr>
                    <a:lstStyle/>
                    <a:p>
                      <a:pPr algn="r"/>
                      <a:r>
                        <a:rPr sz="2175" b="0">
                          <a:solidFill>
                            <a:srgbClr val="202124"/>
                          </a:solidFill>
                          <a:latin typeface="Arial Unicode MS"/>
                          <a:ea typeface="Arial Unicode MS"/>
                          <a:cs typeface="Arial Unicode MS"/>
                        </a:rPr>
                        <a:t>3,177</a:t>
                      </a:r>
                    </a:p>
                  </a:txBody>
                  <a:tcPr marL="91440" marR="91440" marT="45720" marB="45720" anchor="ctr">
                    <a:solidFill>
                      <a:srgbClr val="FFFFFF"/>
                    </a:solidFill>
                  </a:tcPr>
                </a:tc>
                <a:tc>
                  <a:txBody>
                    <a:bodyPr wrap="square" lIns="133350" tIns="76200" rIns="171450" bIns="76200">
                      <a:noAutofit/>
                    </a:bodyPr>
                    <a:lstStyle/>
                    <a:p>
                      <a:pPr algn="r"/>
                      <a:r>
                        <a:rPr sz="2175" b="0">
                          <a:solidFill>
                            <a:srgbClr val="202124"/>
                          </a:solidFill>
                          <a:latin typeface="Arial Unicode MS"/>
                          <a:ea typeface="Arial Unicode MS"/>
                          <a:cs typeface="Arial Unicode MS"/>
                        </a:rPr>
                        <a:t>74.66</a:t>
                      </a:r>
                    </a:p>
                  </a:txBody>
                  <a:tcPr marL="91440" marR="91440" marT="45720" marB="45720" anchor="ctr">
                    <a:solidFill>
                      <a:srgbClr val="FFFFFF"/>
                    </a:solidFill>
                  </a:tcPr>
                </a:tc>
                <a:tc>
                  <a:txBody>
                    <a:bodyPr wrap="square" lIns="133350" tIns="76200" rIns="171450" bIns="76200">
                      <a:noAutofit/>
                    </a:bodyPr>
                    <a:lstStyle/>
                    <a:p>
                      <a:pPr algn="r"/>
                      <a:r>
                        <a:rPr sz="2175" b="0">
                          <a:solidFill>
                            <a:srgbClr val="202124"/>
                          </a:solidFill>
                          <a:latin typeface="Arial Unicode MS"/>
                          <a:ea typeface="Arial Unicode MS"/>
                          <a:cs typeface="Arial Unicode MS"/>
                        </a:rPr>
                        <a:t>53.54</a:t>
                      </a:r>
                    </a:p>
                  </a:txBody>
                  <a:tcPr marL="91440" marR="91440" marT="45720" marB="45720" anchor="ctr">
                    <a:solidFill>
                      <a:srgbClr val="FFFFFF"/>
                    </a:solidFill>
                  </a:tcPr>
                </a:tc>
              </a:tr>
              <a:tr h="609600">
                <a:tc>
                  <a:txBody>
                    <a:bodyPr wrap="square" lIns="133350" tIns="76200" rIns="171450" bIns="76200">
                      <a:noAutofit/>
                    </a:bodyPr>
                    <a:lstStyle/>
                    <a:p>
                      <a:pPr algn="l"/>
                      <a:r>
                        <a:rPr sz="2175" b="0">
                          <a:solidFill>
                            <a:srgbClr val="202124"/>
                          </a:solidFill>
                          <a:latin typeface="Arial Unicode MS"/>
                          <a:ea typeface="Arial Unicode MS"/>
                          <a:cs typeface="Arial Unicode MS"/>
                        </a:rPr>
                        <a:t>1901–1920</a:t>
                      </a:r>
                    </a:p>
                  </a:txBody>
                  <a:tcPr marL="91440" marR="91440" marT="45720" marB="45720" anchor="ctr">
                    <a:solidFill>
                      <a:srgbClr val="FFFFFF"/>
                    </a:solidFill>
                  </a:tcPr>
                </a:tc>
                <a:tc>
                  <a:txBody>
                    <a:bodyPr wrap="square" lIns="133350" tIns="76200" rIns="171450" bIns="76200">
                      <a:noAutofit/>
                    </a:bodyPr>
                    <a:lstStyle/>
                    <a:p>
                      <a:pPr algn="r"/>
                      <a:r>
                        <a:rPr sz="2175" b="0">
                          <a:solidFill>
                            <a:srgbClr val="202124"/>
                          </a:solidFill>
                          <a:latin typeface="Arial Unicode MS"/>
                          <a:ea typeface="Arial Unicode MS"/>
                          <a:cs typeface="Arial Unicode MS"/>
                        </a:rPr>
                        <a:t>4,616</a:t>
                      </a:r>
                    </a:p>
                  </a:txBody>
                  <a:tcPr marL="91440" marR="91440" marT="45720" marB="45720" anchor="ctr">
                    <a:solidFill>
                      <a:srgbClr val="FFFFFF"/>
                    </a:solidFill>
                  </a:tcPr>
                </a:tc>
                <a:tc>
                  <a:txBody>
                    <a:bodyPr wrap="square" lIns="133350" tIns="76200" rIns="171450" bIns="76200">
                      <a:noAutofit/>
                    </a:bodyPr>
                    <a:lstStyle/>
                    <a:p>
                      <a:pPr algn="r"/>
                      <a:r>
                        <a:rPr sz="2175" b="0">
                          <a:solidFill>
                            <a:srgbClr val="202124"/>
                          </a:solidFill>
                          <a:latin typeface="Arial Unicode MS"/>
                          <a:ea typeface="Arial Unicode MS"/>
                          <a:cs typeface="Arial Unicode MS"/>
                        </a:rPr>
                        <a:t>78.60</a:t>
                      </a:r>
                    </a:p>
                  </a:txBody>
                  <a:tcPr marL="91440" marR="91440" marT="45720" marB="45720" anchor="ctr">
                    <a:solidFill>
                      <a:srgbClr val="FFFFFF"/>
                    </a:solidFill>
                  </a:tcPr>
                </a:tc>
                <a:tc>
                  <a:txBody>
                    <a:bodyPr wrap="square" lIns="133350" tIns="76200" rIns="171450" bIns="76200">
                      <a:noAutofit/>
                    </a:bodyPr>
                    <a:lstStyle/>
                    <a:p>
                      <a:pPr algn="r"/>
                      <a:r>
                        <a:rPr sz="2175" b="0">
                          <a:solidFill>
                            <a:srgbClr val="202124"/>
                          </a:solidFill>
                          <a:latin typeface="Arial Unicode MS"/>
                          <a:ea typeface="Arial Unicode MS"/>
                          <a:cs typeface="Arial Unicode MS"/>
                        </a:rPr>
                        <a:t>48.99</a:t>
                      </a:r>
                    </a:p>
                  </a:txBody>
                  <a:tcPr marL="91440" marR="91440" marT="45720" marB="45720" anchor="ctr">
                    <a:solidFill>
                      <a:srgbClr val="FFFFFF"/>
                    </a:solidFill>
                  </a:tcPr>
                </a:tc>
              </a:tr>
              <a:tr h="609600">
                <a:tc>
                  <a:txBody>
                    <a:bodyPr wrap="square" lIns="133350" tIns="76200" rIns="171450" bIns="76200">
                      <a:noAutofit/>
                    </a:bodyPr>
                    <a:lstStyle/>
                    <a:p>
                      <a:pPr algn="l"/>
                      <a:r>
                        <a:rPr sz="2175" b="0">
                          <a:solidFill>
                            <a:srgbClr val="202124"/>
                          </a:solidFill>
                          <a:latin typeface="Arial Unicode MS"/>
                          <a:ea typeface="Arial Unicode MS"/>
                          <a:cs typeface="Arial Unicode MS"/>
                        </a:rPr>
                        <a:t>1921–1940</a:t>
                      </a:r>
                    </a:p>
                  </a:txBody>
                  <a:tcPr marL="91440" marR="91440" marT="45720" marB="45720" anchor="ctr">
                    <a:solidFill>
                      <a:srgbClr val="FFFFFF"/>
                    </a:solidFill>
                  </a:tcPr>
                </a:tc>
                <a:tc>
                  <a:txBody>
                    <a:bodyPr wrap="square" lIns="133350" tIns="76200" rIns="171450" bIns="76200">
                      <a:noAutofit/>
                    </a:bodyPr>
                    <a:lstStyle/>
                    <a:p>
                      <a:pPr algn="r"/>
                      <a:r>
                        <a:rPr sz="2175" b="0">
                          <a:solidFill>
                            <a:srgbClr val="202124"/>
                          </a:solidFill>
                          <a:latin typeface="Arial Unicode MS"/>
                          <a:ea typeface="Arial Unicode MS"/>
                          <a:cs typeface="Arial Unicode MS"/>
                        </a:rPr>
                        <a:t>7,574</a:t>
                      </a:r>
                    </a:p>
                  </a:txBody>
                  <a:tcPr marL="91440" marR="91440" marT="45720" marB="45720" anchor="ctr">
                    <a:solidFill>
                      <a:srgbClr val="FFFFFF"/>
                    </a:solidFill>
                  </a:tcPr>
                </a:tc>
                <a:tc>
                  <a:txBody>
                    <a:bodyPr wrap="square" lIns="133350" tIns="76200" rIns="171450" bIns="76200">
                      <a:noAutofit/>
                    </a:bodyPr>
                    <a:lstStyle/>
                    <a:p>
                      <a:pPr algn="r"/>
                      <a:r>
                        <a:rPr sz="2175" b="0">
                          <a:solidFill>
                            <a:srgbClr val="202124"/>
                          </a:solidFill>
                          <a:latin typeface="Arial Unicode MS"/>
                          <a:ea typeface="Arial Unicode MS"/>
                          <a:cs typeface="Arial Unicode MS"/>
                        </a:rPr>
                        <a:t>81.83</a:t>
                      </a:r>
                    </a:p>
                  </a:txBody>
                  <a:tcPr marL="91440" marR="91440" marT="45720" marB="45720" anchor="ctr">
                    <a:solidFill>
                      <a:srgbClr val="FFFFFF"/>
                    </a:solidFill>
                  </a:tcPr>
                </a:tc>
                <a:tc>
                  <a:txBody>
                    <a:bodyPr wrap="square" lIns="133350" tIns="76200" rIns="171450" bIns="76200">
                      <a:noAutofit/>
                    </a:bodyPr>
                    <a:lstStyle/>
                    <a:p>
                      <a:pPr algn="r"/>
                      <a:r>
                        <a:rPr sz="2175" b="0">
                          <a:solidFill>
                            <a:srgbClr val="202124"/>
                          </a:solidFill>
                          <a:latin typeface="Arial Unicode MS"/>
                          <a:ea typeface="Arial Unicode MS"/>
                          <a:cs typeface="Arial Unicode MS"/>
                        </a:rPr>
                        <a:t>50.15</a:t>
                      </a:r>
                    </a:p>
                  </a:txBody>
                  <a:tcPr marL="91440" marR="91440" marT="45720" marB="45720" anchor="ctr">
                    <a:solidFill>
                      <a:srgbClr val="FFFFFF"/>
                    </a:solidFill>
                  </a:tcPr>
                </a:tc>
              </a:tr>
              <a:tr h="609600">
                <a:tc>
                  <a:txBody>
                    <a:bodyPr wrap="square" lIns="133350" tIns="76200" rIns="171450" bIns="76200">
                      <a:noAutofit/>
                    </a:bodyPr>
                    <a:lstStyle/>
                    <a:p>
                      <a:pPr algn="l"/>
                      <a:r>
                        <a:rPr sz="2175" b="0">
                          <a:solidFill>
                            <a:srgbClr val="202124"/>
                          </a:solidFill>
                          <a:latin typeface="Arial Unicode MS"/>
                          <a:ea typeface="Arial Unicode MS"/>
                          <a:cs typeface="Arial Unicode MS"/>
                        </a:rPr>
                        <a:t>1941–1960</a:t>
                      </a:r>
                    </a:p>
                  </a:txBody>
                  <a:tcPr marL="91440" marR="91440" marT="45720" marB="45720" anchor="ctr">
                    <a:solidFill>
                      <a:srgbClr val="FFFFFF"/>
                    </a:solidFill>
                  </a:tcPr>
                </a:tc>
                <a:tc>
                  <a:txBody>
                    <a:bodyPr wrap="square" lIns="133350" tIns="76200" rIns="171450" bIns="76200">
                      <a:noAutofit/>
                    </a:bodyPr>
                    <a:lstStyle/>
                    <a:p>
                      <a:pPr algn="r"/>
                      <a:r>
                        <a:rPr sz="2175" b="0">
                          <a:solidFill>
                            <a:srgbClr val="202124"/>
                          </a:solidFill>
                          <a:latin typeface="Arial Unicode MS"/>
                          <a:ea typeface="Arial Unicode MS"/>
                          <a:cs typeface="Arial Unicode MS"/>
                        </a:rPr>
                        <a:t>9,776</a:t>
                      </a:r>
                    </a:p>
                  </a:txBody>
                  <a:tcPr marL="91440" marR="91440" marT="45720" marB="45720" anchor="ctr">
                    <a:solidFill>
                      <a:srgbClr val="FFFFFF"/>
                    </a:solidFill>
                  </a:tcPr>
                </a:tc>
                <a:tc>
                  <a:txBody>
                    <a:bodyPr wrap="square" lIns="133350" tIns="76200" rIns="171450" bIns="76200">
                      <a:noAutofit/>
                    </a:bodyPr>
                    <a:lstStyle/>
                    <a:p>
                      <a:pPr algn="r"/>
                      <a:r>
                        <a:rPr sz="2175" b="0">
                          <a:solidFill>
                            <a:srgbClr val="202124"/>
                          </a:solidFill>
                          <a:latin typeface="Arial Unicode MS"/>
                          <a:ea typeface="Arial Unicode MS"/>
                          <a:cs typeface="Arial Unicode MS"/>
                        </a:rPr>
                        <a:t>81.44</a:t>
                      </a:r>
                    </a:p>
                  </a:txBody>
                  <a:tcPr marL="91440" marR="91440" marT="45720" marB="45720" anchor="ctr">
                    <a:solidFill>
                      <a:srgbClr val="FFFFFF"/>
                    </a:solidFill>
                  </a:tcPr>
                </a:tc>
                <a:tc>
                  <a:txBody>
                    <a:bodyPr wrap="square" lIns="133350" tIns="76200" rIns="171450" bIns="76200">
                      <a:noAutofit/>
                    </a:bodyPr>
                    <a:lstStyle/>
                    <a:p>
                      <a:pPr algn="r"/>
                      <a:r>
                        <a:rPr sz="2175" b="0">
                          <a:solidFill>
                            <a:srgbClr val="202124"/>
                          </a:solidFill>
                          <a:latin typeface="Arial Unicode MS"/>
                          <a:ea typeface="Arial Unicode MS"/>
                          <a:cs typeface="Arial Unicode MS"/>
                        </a:rPr>
                        <a:t>45.07</a:t>
                      </a:r>
                    </a:p>
                  </a:txBody>
                  <a:tcPr marL="91440" marR="91440" marT="45720" marB="45720" anchor="ctr">
                    <a:solidFill>
                      <a:srgbClr val="FFFFFF"/>
                    </a:solidFill>
                  </a:tcPr>
                </a:tc>
              </a:tr>
              <a:tr h="609600">
                <a:tc>
                  <a:txBody>
                    <a:bodyPr wrap="square" lIns="133350" tIns="76200" rIns="171450" bIns="76200">
                      <a:noAutofit/>
                    </a:bodyPr>
                    <a:lstStyle/>
                    <a:p>
                      <a:pPr algn="l"/>
                      <a:r>
                        <a:rPr sz="2175" b="0">
                          <a:solidFill>
                            <a:srgbClr val="202124"/>
                          </a:solidFill>
                          <a:latin typeface="Arial Unicode MS"/>
                          <a:ea typeface="Arial Unicode MS"/>
                          <a:cs typeface="Arial Unicode MS"/>
                        </a:rPr>
                        <a:t>1961–1980</a:t>
                      </a:r>
                    </a:p>
                  </a:txBody>
                  <a:tcPr marL="91440" marR="91440" marT="45720" marB="45720" anchor="ctr">
                    <a:solidFill>
                      <a:srgbClr val="FFFFFF"/>
                    </a:solidFill>
                  </a:tcPr>
                </a:tc>
                <a:tc>
                  <a:txBody>
                    <a:bodyPr wrap="square" lIns="133350" tIns="76200" rIns="171450" bIns="76200">
                      <a:noAutofit/>
                    </a:bodyPr>
                    <a:lstStyle/>
                    <a:p>
                      <a:pPr algn="r"/>
                      <a:r>
                        <a:rPr sz="2175" b="0">
                          <a:solidFill>
                            <a:srgbClr val="202124"/>
                          </a:solidFill>
                          <a:latin typeface="Arial Unicode MS"/>
                          <a:ea typeface="Arial Unicode MS"/>
                          <a:cs typeface="Arial Unicode MS"/>
                        </a:rPr>
                        <a:t>9,657</a:t>
                      </a:r>
                    </a:p>
                  </a:txBody>
                  <a:tcPr marL="91440" marR="91440" marT="45720" marB="45720" anchor="ctr">
                    <a:solidFill>
                      <a:srgbClr val="FFFFFF"/>
                    </a:solidFill>
                  </a:tcPr>
                </a:tc>
                <a:tc>
                  <a:txBody>
                    <a:bodyPr wrap="square" lIns="133350" tIns="76200" rIns="171450" bIns="76200">
                      <a:noAutofit/>
                    </a:bodyPr>
                    <a:lstStyle/>
                    <a:p>
                      <a:pPr algn="r"/>
                      <a:r>
                        <a:rPr sz="2175" b="0">
                          <a:solidFill>
                            <a:srgbClr val="202124"/>
                          </a:solidFill>
                          <a:latin typeface="Arial Unicode MS"/>
                          <a:ea typeface="Arial Unicode MS"/>
                          <a:cs typeface="Arial Unicode MS"/>
                        </a:rPr>
                        <a:t>82.76</a:t>
                      </a:r>
                    </a:p>
                  </a:txBody>
                  <a:tcPr marL="91440" marR="91440" marT="45720" marB="45720" anchor="ctr">
                    <a:solidFill>
                      <a:srgbClr val="FFFFFF"/>
                    </a:solidFill>
                  </a:tcPr>
                </a:tc>
                <a:tc>
                  <a:txBody>
                    <a:bodyPr wrap="square" lIns="133350" tIns="76200" rIns="171450" bIns="76200">
                      <a:noAutofit/>
                    </a:bodyPr>
                    <a:lstStyle/>
                    <a:p>
                      <a:pPr algn="r"/>
                      <a:r>
                        <a:rPr sz="2175" b="0">
                          <a:solidFill>
                            <a:srgbClr val="202124"/>
                          </a:solidFill>
                          <a:latin typeface="Arial Unicode MS"/>
                          <a:ea typeface="Arial Unicode MS"/>
                          <a:cs typeface="Arial Unicode MS"/>
                        </a:rPr>
                        <a:t>42.79</a:t>
                      </a:r>
                    </a:p>
                  </a:txBody>
                  <a:tcPr marL="91440" marR="91440" marT="45720" marB="45720" anchor="ctr">
                    <a:solidFill>
                      <a:srgbClr val="FFFFFF"/>
                    </a:solidFill>
                  </a:tcPr>
                </a:tc>
              </a:tr>
              <a:tr h="609600">
                <a:tc>
                  <a:txBody>
                    <a:bodyPr wrap="square" lIns="133350" tIns="76200" rIns="171450" bIns="76200">
                      <a:noAutofit/>
                    </a:bodyPr>
                    <a:lstStyle/>
                    <a:p>
                      <a:pPr algn="l"/>
                      <a:r>
                        <a:rPr sz="2175" b="0">
                          <a:solidFill>
                            <a:srgbClr val="202124"/>
                          </a:solidFill>
                          <a:latin typeface="Arial Unicode MS"/>
                          <a:ea typeface="Arial Unicode MS"/>
                          <a:cs typeface="Arial Unicode MS"/>
                        </a:rPr>
                        <a:t>1981–2000</a:t>
                      </a:r>
                    </a:p>
                  </a:txBody>
                  <a:tcPr marL="91440" marR="91440" marT="45720" marB="45720" anchor="ctr">
                    <a:solidFill>
                      <a:srgbClr val="FFFFFF"/>
                    </a:solidFill>
                  </a:tcPr>
                </a:tc>
                <a:tc>
                  <a:txBody>
                    <a:bodyPr wrap="square" lIns="133350" tIns="76200" rIns="171450" bIns="76200">
                      <a:noAutofit/>
                    </a:bodyPr>
                    <a:lstStyle/>
                    <a:p>
                      <a:pPr algn="r"/>
                      <a:r>
                        <a:rPr sz="2175" b="0">
                          <a:solidFill>
                            <a:srgbClr val="202124"/>
                          </a:solidFill>
                          <a:latin typeface="Arial Unicode MS"/>
                          <a:ea typeface="Arial Unicode MS"/>
                          <a:cs typeface="Arial Unicode MS"/>
                        </a:rPr>
                        <a:t>6,082</a:t>
                      </a:r>
                    </a:p>
                  </a:txBody>
                  <a:tcPr marL="91440" marR="91440" marT="45720" marB="45720" anchor="ctr">
                    <a:solidFill>
                      <a:srgbClr val="FFFFFF"/>
                    </a:solidFill>
                  </a:tcPr>
                </a:tc>
                <a:tc>
                  <a:txBody>
                    <a:bodyPr wrap="square" lIns="133350" tIns="76200" rIns="171450" bIns="76200">
                      <a:noAutofit/>
                    </a:bodyPr>
                    <a:lstStyle/>
                    <a:p>
                      <a:pPr algn="r"/>
                      <a:r>
                        <a:rPr sz="2175" b="0">
                          <a:solidFill>
                            <a:srgbClr val="202124"/>
                          </a:solidFill>
                          <a:latin typeface="Arial Unicode MS"/>
                          <a:ea typeface="Arial Unicode MS"/>
                          <a:cs typeface="Arial Unicode MS"/>
                        </a:rPr>
                        <a:t>79.92</a:t>
                      </a:r>
                    </a:p>
                  </a:txBody>
                  <a:tcPr marL="91440" marR="91440" marT="45720" marB="45720" anchor="ctr">
                    <a:solidFill>
                      <a:srgbClr val="FFFFFF"/>
                    </a:solidFill>
                  </a:tcPr>
                </a:tc>
                <a:tc>
                  <a:txBody>
                    <a:bodyPr wrap="square" lIns="133350" tIns="76200" rIns="171450" bIns="76200">
                      <a:noAutofit/>
                    </a:bodyPr>
                    <a:lstStyle/>
                    <a:p>
                      <a:pPr algn="r"/>
                      <a:r>
                        <a:rPr sz="2175" b="0">
                          <a:solidFill>
                            <a:srgbClr val="202124"/>
                          </a:solidFill>
                          <a:latin typeface="Arial Unicode MS"/>
                          <a:ea typeface="Arial Unicode MS"/>
                          <a:cs typeface="Arial Unicode MS"/>
                        </a:rPr>
                        <a:t>44.85</a:t>
                      </a:r>
                    </a:p>
                  </a:txBody>
                  <a:tcPr marL="91440" marR="91440" marT="45720" marB="45720" anchor="ctr">
                    <a:solidFill>
                      <a:srgbClr val="FFFFFF"/>
                    </a:solidFill>
                  </a:tcPr>
                </a:tc>
              </a:tr>
              <a:tr h="609600">
                <a:tc>
                  <a:txBody>
                    <a:bodyPr wrap="square" lIns="133350" tIns="76200" rIns="171450" bIns="76200">
                      <a:noAutofit/>
                    </a:bodyPr>
                    <a:lstStyle/>
                    <a:p>
                      <a:pPr algn="l"/>
                      <a:r>
                        <a:rPr sz="2175" b="0">
                          <a:solidFill>
                            <a:srgbClr val="202124"/>
                          </a:solidFill>
                          <a:latin typeface="Arial Unicode MS"/>
                          <a:ea typeface="Arial Unicode MS"/>
                          <a:cs typeface="Arial Unicode MS"/>
                        </a:rPr>
                        <a:t>2001–2020</a:t>
                      </a:r>
                    </a:p>
                  </a:txBody>
                  <a:tcPr marL="91440" marR="91440" marT="45720" marB="45720" anchor="ctr">
                    <a:solidFill>
                      <a:srgbClr val="FFFFFF"/>
                    </a:solidFill>
                  </a:tcPr>
                </a:tc>
                <a:tc>
                  <a:txBody>
                    <a:bodyPr wrap="square" lIns="133350" tIns="76200" rIns="171450" bIns="76200">
                      <a:noAutofit/>
                    </a:bodyPr>
                    <a:lstStyle/>
                    <a:p>
                      <a:pPr algn="r"/>
                      <a:r>
                        <a:rPr sz="2175" b="0">
                          <a:solidFill>
                            <a:srgbClr val="202124"/>
                          </a:solidFill>
                          <a:latin typeface="Arial Unicode MS"/>
                          <a:ea typeface="Arial Unicode MS"/>
                          <a:cs typeface="Arial Unicode MS"/>
                        </a:rPr>
                        <a:t>2,116</a:t>
                      </a:r>
                    </a:p>
                  </a:txBody>
                  <a:tcPr marL="91440" marR="91440" marT="45720" marB="45720" anchor="ctr">
                    <a:solidFill>
                      <a:srgbClr val="FFFFFF"/>
                    </a:solidFill>
                  </a:tcPr>
                </a:tc>
                <a:tc>
                  <a:txBody>
                    <a:bodyPr wrap="square" lIns="133350" tIns="76200" rIns="171450" bIns="76200">
                      <a:noAutofit/>
                    </a:bodyPr>
                    <a:lstStyle/>
                    <a:p>
                      <a:pPr algn="r"/>
                      <a:r>
                        <a:rPr sz="2175" b="0">
                          <a:solidFill>
                            <a:srgbClr val="202124"/>
                          </a:solidFill>
                          <a:latin typeface="Arial Unicode MS"/>
                          <a:ea typeface="Arial Unicode MS"/>
                          <a:cs typeface="Arial Unicode MS"/>
                        </a:rPr>
                        <a:t>77.27</a:t>
                      </a:r>
                    </a:p>
                  </a:txBody>
                  <a:tcPr marL="91440" marR="91440" marT="45720" marB="45720" anchor="ctr">
                    <a:solidFill>
                      <a:srgbClr val="FFFFFF"/>
                    </a:solidFill>
                  </a:tcPr>
                </a:tc>
                <a:tc>
                  <a:txBody>
                    <a:bodyPr wrap="square" lIns="133350" tIns="76200" rIns="171450" bIns="76200">
                      <a:noAutofit/>
                    </a:bodyPr>
                    <a:lstStyle/>
                    <a:p>
                      <a:pPr algn="r"/>
                      <a:r>
                        <a:rPr sz="2175" b="0">
                          <a:solidFill>
                            <a:srgbClr val="202124"/>
                          </a:solidFill>
                          <a:latin typeface="Arial Unicode MS"/>
                          <a:ea typeface="Arial Unicode MS"/>
                          <a:cs typeface="Arial Unicode MS"/>
                        </a:rPr>
                        <a:t>29.14</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2B005FF-55FC-473F-B77B-F0E62056C69C}"/>
              </a:ext>
            </a:extLst>
          </p:cNvPr>
          <p:cNvSpPr>
            <a:spLocks xmlns:a="http://schemas.openxmlformats.org/drawingml/2006/main" noGrp="1"/>
          </p:cNvSpPr>
          <p:nvPr/>
        </p:nvSpPr>
        <p:spPr>
          <a:xfrm xmlns:a="http://schemas.openxmlformats.org/drawingml/2006/main">
            <a:off x="571500" y="2324100"/>
            <a:ext cx="140970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5" name="">
            <a:extLst xmlns:a="http://schemas.openxmlformats.org/drawingml/2006/main">
              <a:ext uri="{FF2B5EF4-FFF2-40B4-BE49-F238E27FC236}">
                <a16:creationId xmlns:a16="http://schemas.microsoft.com/office/drawing/2014/main" id="{43ED5583-B1EB-4B7A-9DB9-2F78E75B6175}"/>
              </a:ext>
            </a:extLst>
          </p:cNvPr>
          <p:cNvSpPr>
            <a:spLocks xmlns:a="http://schemas.openxmlformats.org/drawingml/2006/main" noGrp="1"/>
          </p:cNvSpPr>
          <p:nvPr/>
        </p:nvSpPr>
        <p:spPr>
          <a:xfrm xmlns:a="http://schemas.openxmlformats.org/drawingml/2006/main">
            <a:off x="571500" y="2933700"/>
            <a:ext cx="1409700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6" name="">
            <a:extLst xmlns:a="http://schemas.openxmlformats.org/drawingml/2006/main">
              <a:ext uri="{FF2B5EF4-FFF2-40B4-BE49-F238E27FC236}">
                <a16:creationId xmlns:a16="http://schemas.microsoft.com/office/drawing/2014/main" id="{4D63E2D9-2EB9-4DB4-B858-8F7D86929EF8}"/>
              </a:ext>
            </a:extLst>
          </p:cNvPr>
          <p:cNvSpPr>
            <a:spLocks xmlns:a="http://schemas.openxmlformats.org/drawingml/2006/main" noGrp="1"/>
          </p:cNvSpPr>
          <p:nvPr/>
        </p:nvSpPr>
        <p:spPr>
          <a:xfrm xmlns:a="http://schemas.openxmlformats.org/drawingml/2006/main">
            <a:off x="571500" y="3543300"/>
            <a:ext cx="1409700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7" name="">
            <a:extLst xmlns:a="http://schemas.openxmlformats.org/drawingml/2006/main">
              <a:ext uri="{FF2B5EF4-FFF2-40B4-BE49-F238E27FC236}">
                <a16:creationId xmlns:a16="http://schemas.microsoft.com/office/drawing/2014/main" id="{E39B764D-E8F2-4CE2-81C4-0351D756AE9E}"/>
              </a:ext>
            </a:extLst>
          </p:cNvPr>
          <p:cNvSpPr>
            <a:spLocks xmlns:a="http://schemas.openxmlformats.org/drawingml/2006/main" noGrp="1"/>
          </p:cNvSpPr>
          <p:nvPr/>
        </p:nvSpPr>
        <p:spPr>
          <a:xfrm xmlns:a="http://schemas.openxmlformats.org/drawingml/2006/main">
            <a:off x="571500" y="4152900"/>
            <a:ext cx="1409700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8" name="">
            <a:extLst xmlns:a="http://schemas.openxmlformats.org/drawingml/2006/main">
              <a:ext uri="{FF2B5EF4-FFF2-40B4-BE49-F238E27FC236}">
                <a16:creationId xmlns:a16="http://schemas.microsoft.com/office/drawing/2014/main" id="{83115435-FB3C-42A5-895F-251AB8E6E15E}"/>
              </a:ext>
            </a:extLst>
          </p:cNvPr>
          <p:cNvSpPr>
            <a:spLocks xmlns:a="http://schemas.openxmlformats.org/drawingml/2006/main" noGrp="1"/>
          </p:cNvSpPr>
          <p:nvPr/>
        </p:nvSpPr>
        <p:spPr>
          <a:xfrm xmlns:a="http://schemas.openxmlformats.org/drawingml/2006/main">
            <a:off x="571500" y="4762500"/>
            <a:ext cx="1409700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9" name="">
            <a:extLst xmlns:a="http://schemas.openxmlformats.org/drawingml/2006/main">
              <a:ext uri="{FF2B5EF4-FFF2-40B4-BE49-F238E27FC236}">
                <a16:creationId xmlns:a16="http://schemas.microsoft.com/office/drawing/2014/main" id="{C9E22C28-5EBA-45AD-BC29-D5D99C55F3E1}"/>
              </a:ext>
            </a:extLst>
          </p:cNvPr>
          <p:cNvSpPr>
            <a:spLocks xmlns:a="http://schemas.openxmlformats.org/drawingml/2006/main" noGrp="1"/>
          </p:cNvSpPr>
          <p:nvPr/>
        </p:nvSpPr>
        <p:spPr>
          <a:xfrm xmlns:a="http://schemas.openxmlformats.org/drawingml/2006/main">
            <a:off x="571500" y="5372100"/>
            <a:ext cx="1409700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10" name="">
            <a:extLst xmlns:a="http://schemas.openxmlformats.org/drawingml/2006/main">
              <a:ext uri="{FF2B5EF4-FFF2-40B4-BE49-F238E27FC236}">
                <a16:creationId xmlns:a16="http://schemas.microsoft.com/office/drawing/2014/main" id="{7E58AFC6-D643-4964-95D6-6A9216E059B6}"/>
              </a:ext>
            </a:extLst>
          </p:cNvPr>
          <p:cNvSpPr>
            <a:spLocks xmlns:a="http://schemas.openxmlformats.org/drawingml/2006/main" noGrp="1"/>
          </p:cNvSpPr>
          <p:nvPr/>
        </p:nvSpPr>
        <p:spPr>
          <a:xfrm xmlns:a="http://schemas.openxmlformats.org/drawingml/2006/main">
            <a:off x="571500" y="5981700"/>
            <a:ext cx="1409700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11" name="">
            <a:extLst xmlns:a="http://schemas.openxmlformats.org/drawingml/2006/main">
              <a:ext uri="{FF2B5EF4-FFF2-40B4-BE49-F238E27FC236}">
                <a16:creationId xmlns:a16="http://schemas.microsoft.com/office/drawing/2014/main" id="{C907B2FC-085F-4A2D-AA7F-2B5C7DB6F720}"/>
              </a:ext>
            </a:extLst>
          </p:cNvPr>
          <p:cNvSpPr>
            <a:spLocks xmlns:a="http://schemas.openxmlformats.org/drawingml/2006/main" noGrp="1"/>
          </p:cNvSpPr>
          <p:nvPr/>
        </p:nvSpPr>
        <p:spPr>
          <a:xfrm xmlns:a="http://schemas.openxmlformats.org/drawingml/2006/main">
            <a:off x="571500" y="6591300"/>
            <a:ext cx="1409700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12" name="">
            <a:extLst xmlns:a="http://schemas.openxmlformats.org/drawingml/2006/main">
              <a:ext uri="{FF2B5EF4-FFF2-40B4-BE49-F238E27FC236}">
                <a16:creationId xmlns:a16="http://schemas.microsoft.com/office/drawing/2014/main" id="{5C2D735E-E23D-47BD-8703-AAB59CCD3121}"/>
              </a:ext>
            </a:extLst>
          </p:cNvPr>
          <p:cNvSpPr>
            <a:spLocks xmlns:a="http://schemas.openxmlformats.org/drawingml/2006/main" noGrp="1"/>
          </p:cNvSpPr>
          <p:nvPr/>
        </p:nvSpPr>
        <p:spPr>
          <a:xfrm xmlns:a="http://schemas.openxmlformats.org/drawingml/2006/main">
            <a:off x="609600" y="7534275"/>
            <a:ext cx="13982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C6064"/>
                </a:solidFill>
                <a:latin typeface="Arial Unicode MS"/>
                <a:ea typeface="Arial Unicode MS"/>
                <a:cs typeface="Arial Unicode MS"/>
              </a:defRPr>
            </a:pPr>
            <a:r>
              <a:rPr sz="1725" b="0">
                <a:solidFill>
                  <a:srgbClr val="5C6064"/>
                </a:solidFill>
                <a:latin typeface="Arial Unicode MS"/>
                <a:ea typeface="Arial Unicode MS"/>
                <a:cs typeface="Arial Unicode MS"/>
              </a:rPr>
              <a:t>本轮仅运行 multi-group。&lt;1500 时期有 4 个活跃监督类别，其余时期为 5 类。</a:t>
            </a:r>
          </a:p>
        </p:txBody>
      </p:sp>
      <p:sp>
        <p:nvSpPr>
          <p:cNvPr id="13" name="">
            <a:extLst xmlns:a="http://schemas.openxmlformats.org/drawingml/2006/main">
              <a:ext uri="{FF2B5EF4-FFF2-40B4-BE49-F238E27FC236}">
                <a16:creationId xmlns:a16="http://schemas.microsoft.com/office/drawing/2014/main" id="{B91FBBDF-FAAB-4FFE-B228-247060FBE976}"/>
              </a:ext>
            </a:extLst>
          </p:cNvPr>
          <p:cNvSpPr>
            <a:spLocks xmlns:a="http://schemas.openxmlformats.org/drawingml/2006/main" noGrp="1"/>
          </p:cNvSpPr>
          <p:nvPr/>
        </p:nvSpPr>
        <p:spPr>
          <a:xfrm xmlns:a="http://schemas.openxmlformats.org/drawingml/2006/main">
            <a:off x="609600" y="7943850"/>
            <a:ext cx="13982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5C6064"/>
                </a:solidFill>
                <a:latin typeface="Arial Unicode MS"/>
                <a:ea typeface="Arial Unicode MS"/>
                <a:cs typeface="Arial Unicode MS"/>
              </a:defRPr>
            </a:pPr>
            <a:r>
              <a:rPr sz="1650" b="0">
                <a:solidFill>
                  <a:srgbClr val="5C6064"/>
                </a:solidFill>
                <a:latin typeface="Arial Unicode MS"/>
                <a:ea typeface="Arial Unicode MS"/>
                <a:cs typeface="Arial Unicode MS"/>
              </a:rPr>
              <a:t>2 层 RGCN，seed 42，邻居采样 15/10。当前预测节点的职业输入始终遮蔽。</a:t>
            </a:r>
          </a:p>
        </p:txBody>
      </p:sp>
    </p:spTree>
    <p:extLst>
      <p:ext uri="{BB962C8B-B14F-4D97-AF65-F5344CB8AC3E}">
        <p14:creationId xmlns:p14="http://schemas.microsoft.com/office/powerpoint/2010/main" val="20322235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5EEBC96-44F8-4DDF-8F58-F3331AD968A4}"/>
              </a:ext>
            </a:extLst>
          </p:cNvPr>
          <p:cNvSpPr>
            <a:spLocks xmlns:a="http://schemas.openxmlformats.org/drawingml/2006/main" noGrp="1"/>
          </p:cNvSpPr>
          <p:nvPr/>
        </p:nvSpPr>
        <p:spPr>
          <a:xfrm xmlns:a="http://schemas.openxmlformats.org/drawingml/2006/main">
            <a:off x="571500" y="38100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625" b="1">
                <a:solidFill>
                  <a:srgbClr val="111111"/>
                </a:solidFill>
                <a:latin typeface="Arial Unicode MS"/>
                <a:ea typeface="Arial Unicode MS"/>
                <a:cs typeface="Arial Unicode MS"/>
              </a:defRPr>
            </a:pPr>
            <a:r>
              <a:rPr sz="2625" b="1">
                <a:solidFill>
                  <a:srgbClr val="111111"/>
                </a:solidFill>
                <a:latin typeface="Arial Unicode MS"/>
                <a:ea typeface="Arial Unicode MS"/>
                <a:cs typeface="Arial Unicode MS"/>
              </a:rPr>
              <a:t>Freebase 多关系组分组下的 GraphMask 效果</a:t>
            </a:r>
          </a:p>
        </p:txBody>
      </p:sp>
      <p:sp>
        <p:nvSpPr>
          <p:cNvPr id="2" name="">
            <a:extLst xmlns:a="http://schemas.openxmlformats.org/drawingml/2006/main">
              <a:ext uri="{FF2B5EF4-FFF2-40B4-BE49-F238E27FC236}">
                <a16:creationId xmlns:a16="http://schemas.microsoft.com/office/drawing/2014/main" id="{7FCDF56C-3F95-4024-822D-9E380A4B6CA9}"/>
              </a:ext>
            </a:extLst>
          </p:cNvPr>
          <p:cNvSpPr>
            <a:spLocks xmlns:a="http://schemas.openxmlformats.org/drawingml/2006/main" noGrp="1"/>
          </p:cNvSpPr>
          <p:nvPr/>
        </p:nvSpPr>
        <p:spPr>
          <a:xfrm xmlns:a="http://schemas.openxmlformats.org/drawingml/2006/main">
            <a:off x="571500" y="1057275"/>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C6064"/>
                </a:solidFill>
                <a:latin typeface="Arial Unicode MS"/>
                <a:ea typeface="Arial Unicode MS"/>
                <a:cs typeface="Arial Unicode MS"/>
              </a:defRPr>
            </a:pPr>
            <a:r>
              <a:rPr sz="1725" b="0">
                <a:solidFill>
                  <a:srgbClr val="5C6064"/>
                </a:solidFill>
                <a:latin typeface="Arial Unicode MS"/>
                <a:ea typeface="Arial Unicode MS"/>
                <a:cs typeface="Arial Unicode MS"/>
              </a:rPr>
              <a:t>测试集采样消息与预测结果，F1 均指 Macro-F1</a:t>
            </a:r>
          </a:p>
        </p:txBody>
      </p:sp>
      <p:graphicFrame>
        <p:nvGraphicFramePr>
          <p:cNvPr id="16" name=""/>
          <p:cNvGraphicFramePr/>
          <p:nvPr/>
        </p:nvGraphicFramePr>
        <p:xfrm>
          <a:off xmlns:a="http://schemas.openxmlformats.org/drawingml/2006/main" x="571500" y="1714500"/>
          <a:ext xmlns:a="http://schemas.openxmlformats.org/drawingml/2006/main" cx="14097000" cy="5486400"/>
        </p:xfrm>
        <a:graphic xmlns:a="http://schemas.openxmlformats.org/drawingml/2006/main">
          <a:graphicData uri="http://schemas.openxmlformats.org/drawingml/2006/table">
            <a:tbl>
              <a:tblPr firstRow="0" firstCol="0" bandRow="0"/>
              <a:tblGrid>
                <a:gridCol w="2762250"/>
                <a:gridCol w="3190875"/>
                <a:gridCol w="2667000"/>
                <a:gridCol w="2952750"/>
                <a:gridCol w="2524125"/>
              </a:tblGrid>
              <a:tr h="609600">
                <a:tc>
                  <a:txBody>
                    <a:bodyPr wrap="square" lIns="133350" tIns="76200" rIns="171450" bIns="76200">
                      <a:noAutofit/>
                    </a:bodyPr>
                    <a:lstStyle/>
                    <a:p>
                      <a:pPr algn="l"/>
                      <a:r>
                        <a:rPr sz="1875" b="1">
                          <a:solidFill>
                            <a:srgbClr val="202124"/>
                          </a:solidFill>
                          <a:latin typeface="Arial Unicode MS"/>
                          <a:ea typeface="Arial Unicode MS"/>
                          <a:cs typeface="Arial Unicode MS"/>
                        </a:rPr>
                        <a:t>时期</a:t>
                      </a:r>
                    </a:p>
                  </a:txBody>
                  <a:tcPr marL="91440" marR="91440" marT="45720" marB="45720" anchor="ctr">
                    <a:solidFill>
                      <a:srgbClr val="FFFFFF"/>
                    </a:solidFill>
                  </a:tcPr>
                </a:tc>
                <a:tc>
                  <a:txBody>
                    <a:bodyPr wrap="square" lIns="133350" tIns="76200" rIns="171450" bIns="76200">
                      <a:noAutofit/>
                    </a:bodyPr>
                    <a:lstStyle/>
                    <a:p>
                      <a:pPr algn="r"/>
                      <a:r>
                        <a:rPr sz="1875" b="1">
                          <a:solidFill>
                            <a:srgbClr val="202124"/>
                          </a:solidFill>
                          <a:latin typeface="Arial Unicode MS"/>
                          <a:ea typeface="Arial Unicode MS"/>
                          <a:cs typeface="Arial Unicode MS"/>
                        </a:rPr>
                        <a:t>整体消息保留率 (%)</a:t>
                      </a:r>
                    </a:p>
                  </a:txBody>
                  <a:tcPr marL="91440" marR="91440" marT="45720" marB="45720" anchor="ctr">
                    <a:solidFill>
                      <a:srgbClr val="FFFFFF"/>
                    </a:solidFill>
                  </a:tcPr>
                </a:tc>
                <a:tc>
                  <a:txBody>
                    <a:bodyPr wrap="square" lIns="133350" tIns="76200" rIns="171450" bIns="76200">
                      <a:noAutofit/>
                    </a:bodyPr>
                    <a:lstStyle/>
                    <a:p>
                      <a:pPr algn="r"/>
                      <a:r>
                        <a:rPr sz="1875" b="1">
                          <a:solidFill>
                            <a:srgbClr val="202124"/>
                          </a:solidFill>
                          <a:latin typeface="Arial Unicode MS"/>
                          <a:ea typeface="Arial Unicode MS"/>
                          <a:cs typeface="Arial Unicode MS"/>
                        </a:rPr>
                        <a:t>预测一致性 (%)</a:t>
                      </a:r>
                    </a:p>
                  </a:txBody>
                  <a:tcPr marL="91440" marR="91440" marT="45720" marB="45720" anchor="ctr">
                    <a:solidFill>
                      <a:srgbClr val="FFFFFF"/>
                    </a:solidFill>
                  </a:tcPr>
                </a:tc>
                <a:tc>
                  <a:txBody>
                    <a:bodyPr wrap="square" lIns="133350" tIns="76200" rIns="171450" bIns="76200">
                      <a:noAutofit/>
                    </a:bodyPr>
                    <a:lstStyle/>
                    <a:p>
                      <a:pPr algn="r"/>
                      <a:r>
                        <a:rPr sz="1875" b="1">
                          <a:solidFill>
                            <a:srgbClr val="202124"/>
                          </a:solidFill>
                          <a:latin typeface="Arial Unicode MS"/>
                          <a:ea typeface="Arial Unicode MS"/>
                          <a:cs typeface="Arial Unicode MS"/>
                        </a:rPr>
                        <a:t>掩码后准确率 (%)</a:t>
                      </a:r>
                    </a:p>
                  </a:txBody>
                  <a:tcPr marL="91440" marR="91440" marT="45720" marB="45720" anchor="ctr">
                    <a:solidFill>
                      <a:srgbClr val="FFFFFF"/>
                    </a:solidFill>
                  </a:tcPr>
                </a:tc>
                <a:tc>
                  <a:txBody>
                    <a:bodyPr wrap="square" lIns="133350" tIns="76200" rIns="171450" bIns="76200">
                      <a:noAutofit/>
                    </a:bodyPr>
                    <a:lstStyle/>
                    <a:p>
                      <a:pPr algn="r"/>
                      <a:r>
                        <a:rPr sz="1875" b="1">
                          <a:solidFill>
                            <a:srgbClr val="202124"/>
                          </a:solidFill>
                          <a:latin typeface="Arial Unicode MS"/>
                          <a:ea typeface="Arial Unicode MS"/>
                          <a:cs typeface="Arial Unicode MS"/>
                        </a:rPr>
                        <a:t>掩码后 F1 (%)</a:t>
                      </a:r>
                    </a:p>
                  </a:txBody>
                  <a:tcPr marL="91440" marR="91440" marT="45720" marB="45720" anchor="ctr">
                    <a:solidFill>
                      <a:srgbClr val="FFFFFF"/>
                    </a:solidFill>
                  </a:tcPr>
                </a:tc>
              </a:tr>
              <a:tr h="609600">
                <a:tc>
                  <a:txBody>
                    <a:bodyPr wrap="square" lIns="133350" tIns="76200" rIns="171450" bIns="76200">
                      <a:noAutofit/>
                    </a:bodyPr>
                    <a:lstStyle/>
                    <a:p>
                      <a:pPr algn="l"/>
                      <a:r>
                        <a:rPr sz="2100" b="0">
                          <a:solidFill>
                            <a:srgbClr val="202124"/>
                          </a:solidFill>
                          <a:latin typeface="Arial Unicode MS"/>
                          <a:ea typeface="Arial Unicode MS"/>
                          <a:cs typeface="Arial Unicode MS"/>
                        </a:rPr>
                        <a:t>&lt;1500</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99.58</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99.00</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59.00</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42.06</a:t>
                      </a:r>
                    </a:p>
                  </a:txBody>
                  <a:tcPr marL="91440" marR="91440" marT="45720" marB="45720" anchor="ctr">
                    <a:solidFill>
                      <a:srgbClr val="FFFFFF"/>
                    </a:solidFill>
                  </a:tcPr>
                </a:tc>
              </a:tr>
              <a:tr h="609600">
                <a:tc>
                  <a:txBody>
                    <a:bodyPr wrap="square" lIns="133350" tIns="76200" rIns="171450" bIns="76200">
                      <a:noAutofit/>
                    </a:bodyPr>
                    <a:lstStyle/>
                    <a:p>
                      <a:pPr algn="l"/>
                      <a:r>
                        <a:rPr sz="2100" b="0">
                          <a:solidFill>
                            <a:srgbClr val="202124"/>
                          </a:solidFill>
                          <a:latin typeface="Arial Unicode MS"/>
                          <a:ea typeface="Arial Unicode MS"/>
                          <a:cs typeface="Arial Unicode MS"/>
                        </a:rPr>
                        <a:t>1500–1900</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46.06</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98.71</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74.82</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53.72</a:t>
                      </a:r>
                    </a:p>
                  </a:txBody>
                  <a:tcPr marL="91440" marR="91440" marT="45720" marB="45720" anchor="ctr">
                    <a:solidFill>
                      <a:srgbClr val="FFFFFF"/>
                    </a:solidFill>
                  </a:tcPr>
                </a:tc>
              </a:tr>
              <a:tr h="609600">
                <a:tc>
                  <a:txBody>
                    <a:bodyPr wrap="square" lIns="133350" tIns="76200" rIns="171450" bIns="76200">
                      <a:noAutofit/>
                    </a:bodyPr>
                    <a:lstStyle/>
                    <a:p>
                      <a:pPr algn="l"/>
                      <a:r>
                        <a:rPr sz="2100" b="0">
                          <a:solidFill>
                            <a:srgbClr val="202124"/>
                          </a:solidFill>
                          <a:latin typeface="Arial Unicode MS"/>
                          <a:ea typeface="Arial Unicode MS"/>
                          <a:cs typeface="Arial Unicode MS"/>
                        </a:rPr>
                        <a:t>1901–1920</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35.76</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97.23</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78.25</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48.87</a:t>
                      </a:r>
                    </a:p>
                  </a:txBody>
                  <a:tcPr marL="91440" marR="91440" marT="45720" marB="45720" anchor="ctr">
                    <a:solidFill>
                      <a:srgbClr val="FFFFFF"/>
                    </a:solidFill>
                  </a:tcPr>
                </a:tc>
              </a:tr>
              <a:tr h="609600">
                <a:tc>
                  <a:txBody>
                    <a:bodyPr wrap="square" lIns="133350" tIns="76200" rIns="171450" bIns="76200">
                      <a:noAutofit/>
                    </a:bodyPr>
                    <a:lstStyle/>
                    <a:p>
                      <a:pPr algn="l"/>
                      <a:r>
                        <a:rPr sz="2100" b="0">
                          <a:solidFill>
                            <a:srgbClr val="202124"/>
                          </a:solidFill>
                          <a:latin typeface="Arial Unicode MS"/>
                          <a:ea typeface="Arial Unicode MS"/>
                          <a:cs typeface="Arial Unicode MS"/>
                        </a:rPr>
                        <a:t>1921–1940</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24.01</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97.91</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81.58</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49.83</a:t>
                      </a:r>
                    </a:p>
                  </a:txBody>
                  <a:tcPr marL="91440" marR="91440" marT="45720" marB="45720" anchor="ctr">
                    <a:solidFill>
                      <a:srgbClr val="FFFFFF"/>
                    </a:solidFill>
                  </a:tcPr>
                </a:tc>
              </a:tr>
              <a:tr h="609600">
                <a:tc>
                  <a:txBody>
                    <a:bodyPr wrap="square" lIns="133350" tIns="76200" rIns="171450" bIns="76200">
                      <a:noAutofit/>
                    </a:bodyPr>
                    <a:lstStyle/>
                    <a:p>
                      <a:pPr algn="l"/>
                      <a:r>
                        <a:rPr sz="2100" b="0">
                          <a:solidFill>
                            <a:srgbClr val="202124"/>
                          </a:solidFill>
                          <a:latin typeface="Arial Unicode MS"/>
                          <a:ea typeface="Arial Unicode MS"/>
                          <a:cs typeface="Arial Unicode MS"/>
                        </a:rPr>
                        <a:t>1941–1960</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21.93</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98.12</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81.02</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45.12</a:t>
                      </a:r>
                    </a:p>
                  </a:txBody>
                  <a:tcPr marL="91440" marR="91440" marT="45720" marB="45720" anchor="ctr">
                    <a:solidFill>
                      <a:srgbClr val="FFFFFF"/>
                    </a:solidFill>
                  </a:tcPr>
                </a:tc>
              </a:tr>
              <a:tr h="609600">
                <a:tc>
                  <a:txBody>
                    <a:bodyPr wrap="square" lIns="133350" tIns="76200" rIns="171450" bIns="76200">
                      <a:noAutofit/>
                    </a:bodyPr>
                    <a:lstStyle/>
                    <a:p>
                      <a:pPr algn="l"/>
                      <a:r>
                        <a:rPr sz="2100" b="0">
                          <a:solidFill>
                            <a:srgbClr val="202124"/>
                          </a:solidFill>
                          <a:latin typeface="Arial Unicode MS"/>
                          <a:ea typeface="Arial Unicode MS"/>
                          <a:cs typeface="Arial Unicode MS"/>
                        </a:rPr>
                        <a:t>1961–1980</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20.58</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98.42</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82.40</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42.02</a:t>
                      </a:r>
                    </a:p>
                  </a:txBody>
                  <a:tcPr marL="91440" marR="91440" marT="45720" marB="45720" anchor="ctr">
                    <a:solidFill>
                      <a:srgbClr val="FFFFFF"/>
                    </a:solidFill>
                  </a:tcPr>
                </a:tc>
              </a:tr>
              <a:tr h="609600">
                <a:tc>
                  <a:txBody>
                    <a:bodyPr wrap="square" lIns="133350" tIns="76200" rIns="171450" bIns="76200">
                      <a:noAutofit/>
                    </a:bodyPr>
                    <a:lstStyle/>
                    <a:p>
                      <a:pPr algn="l"/>
                      <a:r>
                        <a:rPr sz="2100" b="0">
                          <a:solidFill>
                            <a:srgbClr val="202124"/>
                          </a:solidFill>
                          <a:latin typeface="Arial Unicode MS"/>
                          <a:ea typeface="Arial Unicode MS"/>
                          <a:cs typeface="Arial Unicode MS"/>
                        </a:rPr>
                        <a:t>1981–2000</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21.73</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96.35</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79.30</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43.06</a:t>
                      </a:r>
                    </a:p>
                  </a:txBody>
                  <a:tcPr marL="91440" marR="91440" marT="45720" marB="45720" anchor="ctr">
                    <a:solidFill>
                      <a:srgbClr val="FFFFFF"/>
                    </a:solidFill>
                  </a:tcPr>
                </a:tc>
              </a:tr>
              <a:tr h="609600">
                <a:tc>
                  <a:txBody>
                    <a:bodyPr wrap="square" lIns="133350" tIns="76200" rIns="171450" bIns="76200">
                      <a:noAutofit/>
                    </a:bodyPr>
                    <a:lstStyle/>
                    <a:p>
                      <a:pPr algn="l"/>
                      <a:r>
                        <a:rPr sz="2100" b="0">
                          <a:solidFill>
                            <a:srgbClr val="202124"/>
                          </a:solidFill>
                          <a:latin typeface="Arial Unicode MS"/>
                          <a:ea typeface="Arial Unicode MS"/>
                          <a:cs typeface="Arial Unicode MS"/>
                        </a:rPr>
                        <a:t>2001–2020</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8.03</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98.49</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76.94</a:t>
                      </a:r>
                    </a:p>
                  </a:txBody>
                  <a:tcPr marL="91440" marR="91440" marT="45720" marB="45720" anchor="ctr">
                    <a:solidFill>
                      <a:srgbClr val="FFFFFF"/>
                    </a:solidFill>
                  </a:tcPr>
                </a:tc>
                <a:tc>
                  <a:txBody>
                    <a:bodyPr wrap="square" lIns="133350" tIns="76200" rIns="171450" bIns="76200">
                      <a:noAutofit/>
                    </a:bodyPr>
                    <a:lstStyle/>
                    <a:p>
                      <a:pPr algn="r"/>
                      <a:r>
                        <a:rPr sz="2100" b="0">
                          <a:solidFill>
                            <a:srgbClr val="202124"/>
                          </a:solidFill>
                          <a:latin typeface="Arial Unicode MS"/>
                          <a:ea typeface="Arial Unicode MS"/>
                          <a:cs typeface="Arial Unicode MS"/>
                        </a:rPr>
                        <a:t>25.17</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157BDDA-63A4-482F-A9BD-CFC3FA5F43D1}"/>
              </a:ext>
            </a:extLst>
          </p:cNvPr>
          <p:cNvSpPr>
            <a:spLocks xmlns:a="http://schemas.openxmlformats.org/drawingml/2006/main" noGrp="1"/>
          </p:cNvSpPr>
          <p:nvPr/>
        </p:nvSpPr>
        <p:spPr>
          <a:xfrm xmlns:a="http://schemas.openxmlformats.org/drawingml/2006/main">
            <a:off x="571500" y="2324100"/>
            <a:ext cx="1409700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5" name="">
            <a:extLst xmlns:a="http://schemas.openxmlformats.org/drawingml/2006/main">
              <a:ext uri="{FF2B5EF4-FFF2-40B4-BE49-F238E27FC236}">
                <a16:creationId xmlns:a16="http://schemas.microsoft.com/office/drawing/2014/main" id="{8E370FB5-E1BF-4D8F-A5F4-1678D4707AA1}"/>
              </a:ext>
            </a:extLst>
          </p:cNvPr>
          <p:cNvSpPr>
            <a:spLocks xmlns:a="http://schemas.openxmlformats.org/drawingml/2006/main" noGrp="1"/>
          </p:cNvSpPr>
          <p:nvPr/>
        </p:nvSpPr>
        <p:spPr>
          <a:xfrm xmlns:a="http://schemas.openxmlformats.org/drawingml/2006/main">
            <a:off x="571500" y="2933700"/>
            <a:ext cx="1409700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6" name="">
            <a:extLst xmlns:a="http://schemas.openxmlformats.org/drawingml/2006/main">
              <a:ext uri="{FF2B5EF4-FFF2-40B4-BE49-F238E27FC236}">
                <a16:creationId xmlns:a16="http://schemas.microsoft.com/office/drawing/2014/main" id="{0104FDDA-7CBC-4DD4-8225-B9BFC46E4301}"/>
              </a:ext>
            </a:extLst>
          </p:cNvPr>
          <p:cNvSpPr>
            <a:spLocks xmlns:a="http://schemas.openxmlformats.org/drawingml/2006/main" noGrp="1"/>
          </p:cNvSpPr>
          <p:nvPr/>
        </p:nvSpPr>
        <p:spPr>
          <a:xfrm xmlns:a="http://schemas.openxmlformats.org/drawingml/2006/main">
            <a:off x="571500" y="3543300"/>
            <a:ext cx="1409700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7" name="">
            <a:extLst xmlns:a="http://schemas.openxmlformats.org/drawingml/2006/main">
              <a:ext uri="{FF2B5EF4-FFF2-40B4-BE49-F238E27FC236}">
                <a16:creationId xmlns:a16="http://schemas.microsoft.com/office/drawing/2014/main" id="{7A51ED12-2CAD-4B9A-B8F8-DF9A2621E2E8}"/>
              </a:ext>
            </a:extLst>
          </p:cNvPr>
          <p:cNvSpPr>
            <a:spLocks xmlns:a="http://schemas.openxmlformats.org/drawingml/2006/main" noGrp="1"/>
          </p:cNvSpPr>
          <p:nvPr/>
        </p:nvSpPr>
        <p:spPr>
          <a:xfrm xmlns:a="http://schemas.openxmlformats.org/drawingml/2006/main">
            <a:off x="571500" y="4152900"/>
            <a:ext cx="1409700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8" name="">
            <a:extLst xmlns:a="http://schemas.openxmlformats.org/drawingml/2006/main">
              <a:ext uri="{FF2B5EF4-FFF2-40B4-BE49-F238E27FC236}">
                <a16:creationId xmlns:a16="http://schemas.microsoft.com/office/drawing/2014/main" id="{70AABA1D-F4FD-4F01-9D43-F794E8CD2F05}"/>
              </a:ext>
            </a:extLst>
          </p:cNvPr>
          <p:cNvSpPr>
            <a:spLocks xmlns:a="http://schemas.openxmlformats.org/drawingml/2006/main" noGrp="1"/>
          </p:cNvSpPr>
          <p:nvPr/>
        </p:nvSpPr>
        <p:spPr>
          <a:xfrm xmlns:a="http://schemas.openxmlformats.org/drawingml/2006/main">
            <a:off x="571500" y="4762500"/>
            <a:ext cx="1409700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9" name="">
            <a:extLst xmlns:a="http://schemas.openxmlformats.org/drawingml/2006/main">
              <a:ext uri="{FF2B5EF4-FFF2-40B4-BE49-F238E27FC236}">
                <a16:creationId xmlns:a16="http://schemas.microsoft.com/office/drawing/2014/main" id="{1D03D7A6-C6C5-4E53-B4ED-267ADADB5BD8}"/>
              </a:ext>
            </a:extLst>
          </p:cNvPr>
          <p:cNvSpPr>
            <a:spLocks xmlns:a="http://schemas.openxmlformats.org/drawingml/2006/main" noGrp="1"/>
          </p:cNvSpPr>
          <p:nvPr/>
        </p:nvSpPr>
        <p:spPr>
          <a:xfrm xmlns:a="http://schemas.openxmlformats.org/drawingml/2006/main">
            <a:off x="571500" y="5372100"/>
            <a:ext cx="1409700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10" name="">
            <a:extLst xmlns:a="http://schemas.openxmlformats.org/drawingml/2006/main">
              <a:ext uri="{FF2B5EF4-FFF2-40B4-BE49-F238E27FC236}">
                <a16:creationId xmlns:a16="http://schemas.microsoft.com/office/drawing/2014/main" id="{77E8EC07-14D7-4BA4-8BD5-FE6CF7341A97}"/>
              </a:ext>
            </a:extLst>
          </p:cNvPr>
          <p:cNvSpPr>
            <a:spLocks xmlns:a="http://schemas.openxmlformats.org/drawingml/2006/main" noGrp="1"/>
          </p:cNvSpPr>
          <p:nvPr/>
        </p:nvSpPr>
        <p:spPr>
          <a:xfrm xmlns:a="http://schemas.openxmlformats.org/drawingml/2006/main">
            <a:off x="571500" y="5981700"/>
            <a:ext cx="1409700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11" name="">
            <a:extLst xmlns:a="http://schemas.openxmlformats.org/drawingml/2006/main">
              <a:ext uri="{FF2B5EF4-FFF2-40B4-BE49-F238E27FC236}">
                <a16:creationId xmlns:a16="http://schemas.microsoft.com/office/drawing/2014/main" id="{1426C659-12C3-43BC-A77D-8EF275C0C563}"/>
              </a:ext>
            </a:extLst>
          </p:cNvPr>
          <p:cNvSpPr>
            <a:spLocks xmlns:a="http://schemas.openxmlformats.org/drawingml/2006/main" noGrp="1"/>
          </p:cNvSpPr>
          <p:nvPr/>
        </p:nvSpPr>
        <p:spPr>
          <a:xfrm xmlns:a="http://schemas.openxmlformats.org/drawingml/2006/main">
            <a:off x="571500" y="6591300"/>
            <a:ext cx="1409700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12" name="">
            <a:extLst xmlns:a="http://schemas.openxmlformats.org/drawingml/2006/main">
              <a:ext uri="{FF2B5EF4-FFF2-40B4-BE49-F238E27FC236}">
                <a16:creationId xmlns:a16="http://schemas.microsoft.com/office/drawing/2014/main" id="{47AD45FF-97F1-4CF7-AD95-E50435A81868}"/>
              </a:ext>
            </a:extLst>
          </p:cNvPr>
          <p:cNvSpPr>
            <a:spLocks xmlns:a="http://schemas.openxmlformats.org/drawingml/2006/main" noGrp="1"/>
          </p:cNvSpPr>
          <p:nvPr/>
        </p:nvSpPr>
        <p:spPr>
          <a:xfrm xmlns:a="http://schemas.openxmlformats.org/drawingml/2006/main">
            <a:off x="609600" y="7505700"/>
            <a:ext cx="13982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13" b="0">
                <a:solidFill>
                  <a:srgbClr val="5C6064"/>
                </a:solidFill>
                <a:latin typeface="Arial Unicode MS"/>
                <a:ea typeface="Arial Unicode MS"/>
                <a:cs typeface="Arial Unicode MS"/>
              </a:defRPr>
            </a:pPr>
            <a:r>
              <a:rPr sz="1613" b="0">
                <a:solidFill>
                  <a:srgbClr val="5C6064"/>
                </a:solidFill>
                <a:latin typeface="Arial Unicode MS"/>
                <a:ea typeface="Arial Unicode MS"/>
                <a:cs typeface="Arial Unicode MS"/>
              </a:rPr>
              <a:t>5% 相对 F1 差约束用于验证集。2001–2020 测试 F1 从 29.14% 降至 25.17%，相对下降 13.63%。</a:t>
            </a:r>
          </a:p>
        </p:txBody>
      </p:sp>
      <p:sp>
        <p:nvSpPr>
          <p:cNvPr id="13" name="">
            <a:extLst xmlns:a="http://schemas.openxmlformats.org/drawingml/2006/main">
              <a:ext uri="{FF2B5EF4-FFF2-40B4-BE49-F238E27FC236}">
                <a16:creationId xmlns:a16="http://schemas.microsoft.com/office/drawing/2014/main" id="{A3925C31-1D0C-4654-ABB4-53093434E02B}"/>
              </a:ext>
            </a:extLst>
          </p:cNvPr>
          <p:cNvSpPr>
            <a:spLocks xmlns:a="http://schemas.openxmlformats.org/drawingml/2006/main" noGrp="1"/>
          </p:cNvSpPr>
          <p:nvPr/>
        </p:nvSpPr>
        <p:spPr>
          <a:xfrm xmlns:a="http://schemas.openxmlformats.org/drawingml/2006/main">
            <a:off x="609600" y="7953375"/>
            <a:ext cx="13982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13" b="0">
                <a:solidFill>
                  <a:srgbClr val="5C6064"/>
                </a:solidFill>
                <a:latin typeface="Arial Unicode MS"/>
                <a:ea typeface="Arial Unicode MS"/>
                <a:cs typeface="Arial Unicode MS"/>
              </a:defRPr>
            </a:pPr>
            <a:r>
              <a:rPr sz="1613" b="0">
                <a:solidFill>
                  <a:srgbClr val="5C6064"/>
                </a:solidFill>
                <a:latin typeface="Arial Unicode MS"/>
                <a:ea typeface="Arial Unicode MS"/>
                <a:cs typeface="Arial Unicode MS"/>
              </a:rPr>
              <a:t>保留率按两层采样消息观测次数统计，含生成反向。掩码使用冻结 RGCN 的消息替换机制。</a:t>
            </a:r>
          </a:p>
        </p:txBody>
      </p:sp>
    </p:spTree>
    <p:extLst>
      <p:ext uri="{BB962C8B-B14F-4D97-AF65-F5344CB8AC3E}">
        <p14:creationId xmlns:p14="http://schemas.microsoft.com/office/powerpoint/2010/main" val="7779035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0596B41-EC08-4046-97BC-38E72D4034AD}"/>
              </a:ext>
            </a:extLst>
          </p:cNvPr>
          <p:cNvSpPr>
            <a:spLocks xmlns:a="http://schemas.openxmlformats.org/drawingml/2006/main" noGrp="1"/>
          </p:cNvSpPr>
          <p:nvPr/>
        </p:nvSpPr>
        <p:spPr>
          <a:xfrm xmlns:a="http://schemas.openxmlformats.org/drawingml/2006/main">
            <a:off x="571500" y="38100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625" b="1">
                <a:solidFill>
                  <a:srgbClr val="111111"/>
                </a:solidFill>
                <a:latin typeface="Arial Unicode MS"/>
                <a:ea typeface="Arial Unicode MS"/>
                <a:cs typeface="Arial Unicode MS"/>
              </a:defRPr>
            </a:pPr>
            <a:r>
              <a:rPr sz="2625" b="1">
                <a:solidFill>
                  <a:srgbClr val="111111"/>
                </a:solidFill>
                <a:latin typeface="Arial Unicode MS"/>
                <a:ea typeface="Arial Unicode MS"/>
                <a:cs typeface="Arial Unicode MS"/>
              </a:rPr>
              <a:t>Freebase 各时期的关系组保留份额</a:t>
            </a:r>
          </a:p>
        </p:txBody>
      </p:sp>
      <p:sp>
        <p:nvSpPr>
          <p:cNvPr id="2" name="">
            <a:extLst xmlns:a="http://schemas.openxmlformats.org/drawingml/2006/main">
              <a:ext uri="{FF2B5EF4-FFF2-40B4-BE49-F238E27FC236}">
                <a16:creationId xmlns:a16="http://schemas.microsoft.com/office/drawing/2014/main" id="{38DC31D6-C43B-46FE-9C53-74A76FC26879}"/>
              </a:ext>
            </a:extLst>
          </p:cNvPr>
          <p:cNvSpPr>
            <a:spLocks xmlns:a="http://schemas.openxmlformats.org/drawingml/2006/main" noGrp="1"/>
          </p:cNvSpPr>
          <p:nvPr/>
        </p:nvSpPr>
        <p:spPr>
          <a:xfrm xmlns:a="http://schemas.openxmlformats.org/drawingml/2006/main">
            <a:off x="571500" y="1057275"/>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C6064"/>
                </a:solidFill>
                <a:latin typeface="Arial Unicode MS"/>
                <a:ea typeface="Arial Unicode MS"/>
                <a:cs typeface="Arial Unicode MS"/>
              </a:defRPr>
            </a:pPr>
            <a:r>
              <a:rPr sz="1725" b="0">
                <a:solidFill>
                  <a:srgbClr val="5C6064"/>
                </a:solidFill>
                <a:latin typeface="Arial Unicode MS"/>
                <a:ea typeface="Arial Unicode MS"/>
                <a:cs typeface="Arial Unicode MS"/>
              </a:rPr>
              <a:t>Layer 0，各组占该层全部硬保留采样消息的份额（%）</a:t>
            </a:r>
          </a:p>
        </p:txBody>
      </p:sp>
      <p:graphicFrame>
        <p:nvGraphicFramePr>
          <p:cNvPr id="29" name=""/>
          <p:cNvGraphicFramePr/>
          <p:nvPr/>
        </p:nvGraphicFramePr>
        <p:xfrm>
          <a:off xmlns:a="http://schemas.openxmlformats.org/drawingml/2006/main" x="952500" y="1790700"/>
          <a:ext xmlns:a="http://schemas.openxmlformats.org/drawingml/2006/main" cx="12287250" cy="5314950"/>
        </p:xfrm>
        <a:graphic xmlns:a="http://schemas.openxmlformats.org/drawingml/2006/main">
          <a:graphicData uri="http://schemas.openxmlformats.org/drawingml/2006/table">
            <a:tbl>
              <a:tblPr firstRow="0" firstCol="0" bandRow="0"/>
              <a:tblGrid>
                <a:gridCol w="2524125"/>
                <a:gridCol w="1952625"/>
                <a:gridCol w="1952625"/>
                <a:gridCol w="1952625"/>
                <a:gridCol w="1952625"/>
                <a:gridCol w="1952625"/>
              </a:tblGrid>
              <a:tr h="590550">
                <a:tc>
                  <a:txBody>
                    <a:bodyPr wrap="square" lIns="76200" tIns="47625" rIns="114300" bIns="47625">
                      <a:noAutofit/>
                    </a:bodyPr>
                    <a:lstStyle/>
                    <a:p>
                      <a:pPr algn="r"/>
                      <a:r>
                        <a:rPr sz="1725" b="0">
                          <a:solidFill>
                            <a:srgbClr val="202124"/>
                          </a:solidFill>
                          <a:latin typeface="Arial Unicode MS"/>
                          <a:ea typeface="Arial Unicode MS"/>
                          <a:cs typeface="Arial Unicode MS"/>
                        </a:rPr>
                        <a:t>时期</a:t>
                      </a:r>
                    </a:p>
                  </a:txBody>
                  <a:tcPr marL="91440" marR="91440" marT="45720" marB="45720" anchor="ctr">
                    <a:solidFill>
                      <a:srgbClr val="FFFFFF"/>
                    </a:solidFill>
                  </a:tcPr>
                </a:tc>
                <a:tc>
                  <a:txBody>
                    <a:bodyPr wrap="square" lIns="76200" tIns="47625" rIns="114300" bIns="47625">
                      <a:noAutofit/>
                    </a:bodyPr>
                    <a:lstStyle/>
                    <a:p>
                      <a:pPr algn="ctr"/>
                      <a:r>
                        <a:rPr sz="1725" b="0">
                          <a:solidFill>
                            <a:srgbClr val="202124"/>
                          </a:solidFill>
                          <a:latin typeface="Arial Unicode MS"/>
                          <a:ea typeface="Arial Unicode MS"/>
                          <a:cs typeface="Arial Unicode MS"/>
                        </a:rPr>
                        <a:t>inherited</a:t>
                      </a:r>
                    </a:p>
                  </a:txBody>
                  <a:tcPr marL="91440" marR="91440" marT="45720" marB="45720" anchor="ctr">
                    <a:solidFill>
                      <a:srgbClr val="FFFFFF"/>
                    </a:solidFill>
                  </a:tcPr>
                </a:tc>
                <a:tc>
                  <a:txBody>
                    <a:bodyPr wrap="square" lIns="76200" tIns="47625" rIns="114300" bIns="47625">
                      <a:noAutofit/>
                    </a:bodyPr>
                    <a:lstStyle/>
                    <a:p>
                      <a:pPr algn="ctr"/>
                      <a:r>
                        <a:rPr sz="1725" b="0">
                          <a:solidFill>
                            <a:srgbClr val="202124"/>
                          </a:solidFill>
                          <a:latin typeface="Arial Unicode MS"/>
                          <a:ea typeface="Arial Unicode MS"/>
                          <a:cs typeface="Arial Unicode MS"/>
                        </a:rPr>
                        <a:t>intimate</a:t>
                      </a:r>
                    </a:p>
                    <a:p>
                      <a:pPr algn="ctr"/>
                      <a:r>
                        <a:rPr sz="1725" b="0">
                          <a:solidFill>
                            <a:srgbClr val="202124"/>
                          </a:solidFill>
                          <a:latin typeface="Arial Unicode MS"/>
                          <a:ea typeface="Arial Unicode MS"/>
                          <a:cs typeface="Arial Unicode MS"/>
                        </a:rPr>
                        <a:t>partnership</a:t>
                      </a:r>
                    </a:p>
                  </a:txBody>
                  <a:tcPr marL="91440" marR="91440" marT="45720" marB="45720" anchor="ctr">
                    <a:solidFill>
                      <a:srgbClr val="FFFFFF"/>
                    </a:solidFill>
                  </a:tcPr>
                </a:tc>
                <a:tc>
                  <a:txBody>
                    <a:bodyPr wrap="square" lIns="76200" tIns="47625" rIns="114300" bIns="47625">
                      <a:noAutofit/>
                    </a:bodyPr>
                    <a:lstStyle/>
                    <a:p>
                      <a:pPr algn="ctr"/>
                      <a:r>
                        <a:rPr sz="1725" b="0">
                          <a:solidFill>
                            <a:srgbClr val="202124"/>
                          </a:solidFill>
                          <a:latin typeface="Arial Unicode MS"/>
                          <a:ea typeface="Arial Unicode MS"/>
                          <a:cs typeface="Arial Unicode MS"/>
                        </a:rPr>
                        <a:t>education /</a:t>
                      </a:r>
                    </a:p>
                    <a:p>
                      <a:pPr algn="ctr"/>
                      <a:r>
                        <a:rPr sz="1725" b="0">
                          <a:solidFill>
                            <a:srgbClr val="202124"/>
                          </a:solidFill>
                          <a:latin typeface="Arial Unicode MS"/>
                          <a:ea typeface="Arial Unicode MS"/>
                          <a:cs typeface="Arial Unicode MS"/>
                        </a:rPr>
                        <a:t>mentorship</a:t>
                      </a:r>
                    </a:p>
                  </a:txBody>
                  <a:tcPr marL="91440" marR="91440" marT="45720" marB="45720" anchor="ctr">
                    <a:solidFill>
                      <a:srgbClr val="FFFFFF"/>
                    </a:solidFill>
                  </a:tcPr>
                </a:tc>
                <a:tc>
                  <a:txBody>
                    <a:bodyPr wrap="square" lIns="76200" tIns="47625" rIns="114300" bIns="47625">
                      <a:noAutofit/>
                    </a:bodyPr>
                    <a:lstStyle/>
                    <a:p>
                      <a:pPr algn="ctr"/>
                      <a:r>
                        <a:rPr sz="1725" b="0">
                          <a:solidFill>
                            <a:srgbClr val="202124"/>
                          </a:solidFill>
                          <a:latin typeface="Arial Unicode MS"/>
                          <a:ea typeface="Arial Unicode MS"/>
                          <a:cs typeface="Arial Unicode MS"/>
                        </a:rPr>
                        <a:t>influence /</a:t>
                      </a:r>
                    </a:p>
                    <a:p>
                      <a:pPr algn="ctr"/>
                      <a:r>
                        <a:rPr sz="1725" b="0">
                          <a:solidFill>
                            <a:srgbClr val="202124"/>
                          </a:solidFill>
                          <a:latin typeface="Arial Unicode MS"/>
                          <a:ea typeface="Arial Unicode MS"/>
                          <a:cs typeface="Arial Unicode MS"/>
                        </a:rPr>
                        <a:t>succession</a:t>
                      </a:r>
                    </a:p>
                  </a:txBody>
                  <a:tcPr marL="91440" marR="91440" marT="45720" marB="45720" anchor="ctr">
                    <a:solidFill>
                      <a:srgbClr val="FFFFFF"/>
                    </a:solidFill>
                  </a:tcPr>
                </a:tc>
                <a:tc>
                  <a:txBody>
                    <a:bodyPr wrap="square" lIns="76200" tIns="47625" rIns="114300" bIns="47625">
                      <a:noAutofit/>
                    </a:bodyPr>
                    <a:lstStyle/>
                    <a:p>
                      <a:pPr algn="ctr"/>
                      <a:r>
                        <a:rPr sz="1725" b="0">
                          <a:solidFill>
                            <a:srgbClr val="202124"/>
                          </a:solidFill>
                          <a:latin typeface="Arial Unicode MS"/>
                          <a:ea typeface="Arial Unicode MS"/>
                          <a:cs typeface="Arial Unicode MS"/>
                        </a:rPr>
                        <a:t>other</a:t>
                      </a:r>
                    </a:p>
                    <a:p>
                      <a:pPr algn="ctr"/>
                      <a:r>
                        <a:rPr sz="1725" b="0">
                          <a:solidFill>
                            <a:srgbClr val="202124"/>
                          </a:solidFill>
                          <a:latin typeface="Arial Unicode MS"/>
                          <a:ea typeface="Arial Unicode MS"/>
                          <a:cs typeface="Arial Unicode MS"/>
                        </a:rPr>
                        <a:t>acquired</a:t>
                      </a:r>
                    </a:p>
                  </a:txBody>
                  <a:tcPr marL="91440" marR="91440" marT="45720" marB="45720" anchor="ctr">
                    <a:solidFill>
                      <a:srgbClr val="FFFFFF"/>
                    </a:solidFill>
                  </a:tcPr>
                </a:tc>
              </a:tr>
              <a:tr h="590550">
                <a:tc>
                  <a:txBody>
                    <a:bodyPr wrap="square" lIns="76200" tIns="47625" rIns="114300" bIns="47625">
                      <a:noAutofit/>
                    </a:bodyPr>
                    <a:lstStyle/>
                    <a:p>
                      <a:pPr algn="r"/>
                      <a:r>
                        <a:rPr sz="2100" b="0">
                          <a:solidFill>
                            <a:srgbClr val="202124"/>
                          </a:solidFill>
                          <a:latin typeface="Arial Unicode MS"/>
                          <a:ea typeface="Arial Unicode MS"/>
                          <a:cs typeface="Arial Unicode MS"/>
                        </a:rPr>
                        <a:t>&lt;1500 *</a:t>
                      </a:r>
                    </a:p>
                  </a:txBody>
                  <a:tcPr marL="91440" marR="91440" marT="45720" marB="45720" anchor="ctr">
                    <a:solidFill>
                      <a:srgbClr val="FFFFFF"/>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12.5%</a:t>
                      </a:r>
                    </a:p>
                  </a:txBody>
                  <a:tcPr marL="91440" marR="91440" marT="45720" marB="45720" anchor="ctr">
                    <a:solidFill>
                      <a:srgbClr val="DEEBF7"/>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0.6%</a:t>
                      </a:r>
                    </a:p>
                  </a:txBody>
                  <a:tcPr marL="91440" marR="91440" marT="45720" marB="45720" anchor="ctr">
                    <a:solidFill>
                      <a:srgbClr val="F6FAFF"/>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0.2%</a:t>
                      </a:r>
                    </a:p>
                  </a:txBody>
                  <a:tcPr marL="91440" marR="91440" marT="45720" marB="45720" anchor="ctr">
                    <a:solidFill>
                      <a:srgbClr val="F7FBFF"/>
                    </a:solidFill>
                  </a:tcPr>
                </a:tc>
                <a:tc>
                  <a:txBody>
                    <a:bodyPr wrap="square" lIns="76200" tIns="47625" rIns="114300" bIns="47625">
                      <a:noAutofit/>
                    </a:bodyPr>
                    <a:lstStyle/>
                    <a:p>
                      <a:pPr algn="ctr"/>
                      <a:r>
                        <a:rPr sz="2100" b="0">
                          <a:solidFill>
                            <a:srgbClr val="FFFFFF"/>
                          </a:solidFill>
                          <a:latin typeface="Arial Unicode MS"/>
                          <a:ea typeface="Arial Unicode MS"/>
                          <a:cs typeface="Arial Unicode MS"/>
                        </a:rPr>
                        <a:t>85.0%</a:t>
                      </a:r>
                    </a:p>
                  </a:txBody>
                  <a:tcPr marL="91440" marR="91440" marT="45720" marB="45720" anchor="ctr">
                    <a:solidFill>
                      <a:srgbClr val="0D57A1"/>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1.7%</a:t>
                      </a:r>
                    </a:p>
                  </a:txBody>
                  <a:tcPr marL="91440" marR="91440" marT="45720" marB="45720" anchor="ctr">
                    <a:solidFill>
                      <a:srgbClr val="F4F9FE"/>
                    </a:solidFill>
                  </a:tcPr>
                </a:tc>
              </a:tr>
              <a:tr h="590550">
                <a:tc>
                  <a:txBody>
                    <a:bodyPr wrap="square" lIns="76200" tIns="47625" rIns="114300" bIns="47625">
                      <a:noAutofit/>
                    </a:bodyPr>
                    <a:lstStyle/>
                    <a:p>
                      <a:pPr algn="r"/>
                      <a:r>
                        <a:rPr sz="2100" b="0">
                          <a:solidFill>
                            <a:srgbClr val="202124"/>
                          </a:solidFill>
                          <a:latin typeface="Arial Unicode MS"/>
                          <a:ea typeface="Arial Unicode MS"/>
                          <a:cs typeface="Arial Unicode MS"/>
                        </a:rPr>
                        <a:t>1500–1900</a:t>
                      </a:r>
                    </a:p>
                  </a:txBody>
                  <a:tcPr marL="91440" marR="91440" marT="45720" marB="45720" anchor="ctr">
                    <a:solidFill>
                      <a:srgbClr val="FFFFFF"/>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31.4%</a:t>
                      </a:r>
                    </a:p>
                  </a:txBody>
                  <a:tcPr marL="91440" marR="91440" marT="45720" marB="45720" anchor="ctr">
                    <a:solidFill>
                      <a:srgbClr val="B2D2E8"/>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9.3%</a:t>
                      </a:r>
                    </a:p>
                  </a:txBody>
                  <a:tcPr marL="91440" marR="91440" marT="45720" marB="45720" anchor="ctr">
                    <a:solidFill>
                      <a:srgbClr val="E5EFF9"/>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7.3%</a:t>
                      </a:r>
                    </a:p>
                  </a:txBody>
                  <a:tcPr marL="91440" marR="91440" marT="45720" marB="45720" anchor="ctr">
                    <a:solidFill>
                      <a:srgbClr val="E9F2FA"/>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48.2%</a:t>
                      </a:r>
                    </a:p>
                  </a:txBody>
                  <a:tcPr marL="91440" marR="91440" marT="45720" marB="45720" anchor="ctr">
                    <a:solidFill>
                      <a:srgbClr val="72B2D8"/>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3.9%</a:t>
                      </a:r>
                    </a:p>
                  </a:txBody>
                  <a:tcPr marL="91440" marR="91440" marT="45720" marB="45720" anchor="ctr">
                    <a:solidFill>
                      <a:srgbClr val="F0F6FD"/>
                    </a:solidFill>
                  </a:tcPr>
                </a:tc>
              </a:tr>
              <a:tr h="590550">
                <a:tc>
                  <a:txBody>
                    <a:bodyPr wrap="square" lIns="76200" tIns="47625" rIns="114300" bIns="47625">
                      <a:noAutofit/>
                    </a:bodyPr>
                    <a:lstStyle/>
                    <a:p>
                      <a:pPr algn="r"/>
                      <a:r>
                        <a:rPr sz="2100" b="0">
                          <a:solidFill>
                            <a:srgbClr val="202124"/>
                          </a:solidFill>
                          <a:latin typeface="Arial Unicode MS"/>
                          <a:ea typeface="Arial Unicode MS"/>
                          <a:cs typeface="Arial Unicode MS"/>
                        </a:rPr>
                        <a:t>1901–1920</a:t>
                      </a:r>
                    </a:p>
                  </a:txBody>
                  <a:tcPr marL="91440" marR="91440" marT="45720" marB="45720" anchor="ctr">
                    <a:solidFill>
                      <a:srgbClr val="FFFFFF"/>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35.3%</a:t>
                      </a:r>
                    </a:p>
                  </a:txBody>
                  <a:tcPr marL="91440" marR="91440" marT="45720" marB="45720" anchor="ctr">
                    <a:solidFill>
                      <a:srgbClr val="A5CDE3"/>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24.7%</a:t>
                      </a:r>
                    </a:p>
                  </a:txBody>
                  <a:tcPr marL="91440" marR="91440" marT="45720" marB="45720" anchor="ctr">
                    <a:solidFill>
                      <a:srgbClr val="C7DBEF"/>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10.5%</a:t>
                      </a:r>
                    </a:p>
                  </a:txBody>
                  <a:tcPr marL="91440" marR="91440" marT="45720" marB="45720" anchor="ctr">
                    <a:solidFill>
                      <a:srgbClr val="E3EEF8"/>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25.3%</a:t>
                      </a:r>
                    </a:p>
                  </a:txBody>
                  <a:tcPr marL="91440" marR="91440" marT="45720" marB="45720" anchor="ctr">
                    <a:solidFill>
                      <a:srgbClr val="C6DBEF"/>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4.3%</a:t>
                      </a:r>
                    </a:p>
                  </a:txBody>
                  <a:tcPr marL="91440" marR="91440" marT="45720" marB="45720" anchor="ctr">
                    <a:solidFill>
                      <a:srgbClr val="EFF6FC"/>
                    </a:solidFill>
                  </a:tcPr>
                </a:tc>
              </a:tr>
              <a:tr h="590550">
                <a:tc>
                  <a:txBody>
                    <a:bodyPr wrap="square" lIns="76200" tIns="47625" rIns="114300" bIns="47625">
                      <a:noAutofit/>
                    </a:bodyPr>
                    <a:lstStyle/>
                    <a:p>
                      <a:pPr algn="r"/>
                      <a:r>
                        <a:rPr sz="2100" b="0">
                          <a:solidFill>
                            <a:srgbClr val="202124"/>
                          </a:solidFill>
                          <a:latin typeface="Arial Unicode MS"/>
                          <a:ea typeface="Arial Unicode MS"/>
                          <a:cs typeface="Arial Unicode MS"/>
                        </a:rPr>
                        <a:t>1921–1940</a:t>
                      </a:r>
                    </a:p>
                  </a:txBody>
                  <a:tcPr marL="91440" marR="91440" marT="45720" marB="45720" anchor="ctr">
                    <a:solidFill>
                      <a:srgbClr val="FFFFFF"/>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15.6%</a:t>
                      </a:r>
                    </a:p>
                  </a:txBody>
                  <a:tcPr marL="91440" marR="91440" marT="45720" marB="45720" anchor="ctr">
                    <a:solidFill>
                      <a:srgbClr val="D9E7F5"/>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32.7%</a:t>
                      </a:r>
                    </a:p>
                  </a:txBody>
                  <a:tcPr marL="91440" marR="91440" marT="45720" marB="45720" anchor="ctr">
                    <a:solidFill>
                      <a:srgbClr val="AED1E7"/>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12.0%</a:t>
                      </a:r>
                    </a:p>
                  </a:txBody>
                  <a:tcPr marL="91440" marR="91440" marT="45720" marB="45720" anchor="ctr">
                    <a:solidFill>
                      <a:srgbClr val="DFECF7"/>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36.5%</a:t>
                      </a:r>
                    </a:p>
                  </a:txBody>
                  <a:tcPr marL="91440" marR="91440" marT="45720" marB="45720" anchor="ctr">
                    <a:solidFill>
                      <a:srgbClr val="A1CBE2"/>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3.3%</a:t>
                      </a:r>
                    </a:p>
                  </a:txBody>
                  <a:tcPr marL="91440" marR="91440" marT="45720" marB="45720" anchor="ctr">
                    <a:solidFill>
                      <a:srgbClr val="F1F7FD"/>
                    </a:solidFill>
                  </a:tcPr>
                </a:tc>
              </a:tr>
              <a:tr h="590550">
                <a:tc>
                  <a:txBody>
                    <a:bodyPr wrap="square" lIns="76200" tIns="47625" rIns="114300" bIns="47625">
                      <a:noAutofit/>
                    </a:bodyPr>
                    <a:lstStyle/>
                    <a:p>
                      <a:pPr algn="r"/>
                      <a:r>
                        <a:rPr sz="2100" b="0">
                          <a:solidFill>
                            <a:srgbClr val="202124"/>
                          </a:solidFill>
                          <a:latin typeface="Arial Unicode MS"/>
                          <a:ea typeface="Arial Unicode MS"/>
                          <a:cs typeface="Arial Unicode MS"/>
                        </a:rPr>
                        <a:t>1941–1960</a:t>
                      </a:r>
                    </a:p>
                  </a:txBody>
                  <a:tcPr marL="91440" marR="91440" marT="45720" marB="45720" anchor="ctr">
                    <a:solidFill>
                      <a:srgbClr val="FFFFFF"/>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28.6%</a:t>
                      </a:r>
                    </a:p>
                  </a:txBody>
                  <a:tcPr marL="91440" marR="91440" marT="45720" marB="45720" anchor="ctr">
                    <a:solidFill>
                      <a:srgbClr val="BAD6EB"/>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14.7%</a:t>
                      </a:r>
                    </a:p>
                  </a:txBody>
                  <a:tcPr marL="91440" marR="91440" marT="45720" marB="45720" anchor="ctr">
                    <a:solidFill>
                      <a:srgbClr val="DAE8F6"/>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12.6%</a:t>
                      </a:r>
                    </a:p>
                  </a:txBody>
                  <a:tcPr marL="91440" marR="91440" marT="45720" marB="45720" anchor="ctr">
                    <a:solidFill>
                      <a:srgbClr val="DEEBF7"/>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40.1%</a:t>
                      </a:r>
                    </a:p>
                  </a:txBody>
                  <a:tcPr marL="91440" marR="91440" marT="45720" marB="45720" anchor="ctr">
                    <a:solidFill>
                      <a:srgbClr val="94C4DF"/>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3.9%</a:t>
                      </a:r>
                    </a:p>
                  </a:txBody>
                  <a:tcPr marL="91440" marR="91440" marT="45720" marB="45720" anchor="ctr">
                    <a:solidFill>
                      <a:srgbClr val="EFF6FC"/>
                    </a:solidFill>
                  </a:tcPr>
                </a:tc>
              </a:tr>
              <a:tr h="590550">
                <a:tc>
                  <a:txBody>
                    <a:bodyPr wrap="square" lIns="76200" tIns="47625" rIns="114300" bIns="47625">
                      <a:noAutofit/>
                    </a:bodyPr>
                    <a:lstStyle/>
                    <a:p>
                      <a:pPr algn="r"/>
                      <a:r>
                        <a:rPr sz="2100" b="0">
                          <a:solidFill>
                            <a:srgbClr val="202124"/>
                          </a:solidFill>
                          <a:latin typeface="Arial Unicode MS"/>
                          <a:ea typeface="Arial Unicode MS"/>
                          <a:cs typeface="Arial Unicode MS"/>
                        </a:rPr>
                        <a:t>1961–1980</a:t>
                      </a:r>
                    </a:p>
                  </a:txBody>
                  <a:tcPr marL="91440" marR="91440" marT="45720" marB="45720" anchor="ctr">
                    <a:solidFill>
                      <a:srgbClr val="FFFFFF"/>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34.3%</a:t>
                      </a:r>
                    </a:p>
                  </a:txBody>
                  <a:tcPr marL="91440" marR="91440" marT="45720" marB="45720" anchor="ctr">
                    <a:solidFill>
                      <a:srgbClr val="A9CFE5"/>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39.7%</a:t>
                      </a:r>
                    </a:p>
                  </a:txBody>
                  <a:tcPr marL="91440" marR="91440" marT="45720" marB="45720" anchor="ctr">
                    <a:solidFill>
                      <a:srgbClr val="95C5DF"/>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3.3%</a:t>
                      </a:r>
                    </a:p>
                  </a:txBody>
                  <a:tcPr marL="91440" marR="91440" marT="45720" marB="45720" anchor="ctr">
                    <a:solidFill>
                      <a:srgbClr val="F1F7FD"/>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20.4%</a:t>
                      </a:r>
                    </a:p>
                  </a:txBody>
                  <a:tcPr marL="91440" marR="91440" marT="45720" marB="45720" anchor="ctr">
                    <a:solidFill>
                      <a:srgbClr val="CFE1F2"/>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2.3%</a:t>
                      </a:r>
                    </a:p>
                  </a:txBody>
                  <a:tcPr marL="91440" marR="91440" marT="45720" marB="45720" anchor="ctr">
                    <a:solidFill>
                      <a:srgbClr val="F3F8FE"/>
                    </a:solidFill>
                  </a:tcPr>
                </a:tc>
              </a:tr>
              <a:tr h="590550">
                <a:tc>
                  <a:txBody>
                    <a:bodyPr wrap="square" lIns="76200" tIns="47625" rIns="114300" bIns="47625">
                      <a:noAutofit/>
                    </a:bodyPr>
                    <a:lstStyle/>
                    <a:p>
                      <a:pPr algn="r"/>
                      <a:r>
                        <a:rPr sz="2100" b="0">
                          <a:solidFill>
                            <a:srgbClr val="202124"/>
                          </a:solidFill>
                          <a:latin typeface="Arial Unicode MS"/>
                          <a:ea typeface="Arial Unicode MS"/>
                          <a:cs typeface="Arial Unicode MS"/>
                        </a:rPr>
                        <a:t>1981–2000</a:t>
                      </a:r>
                    </a:p>
                  </a:txBody>
                  <a:tcPr marL="91440" marR="91440" marT="45720" marB="45720" anchor="ctr">
                    <a:solidFill>
                      <a:srgbClr val="FFFFFF"/>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48.5%</a:t>
                      </a:r>
                    </a:p>
                  </a:txBody>
                  <a:tcPr marL="91440" marR="91440" marT="45720" marB="45720" anchor="ctr">
                    <a:solidFill>
                      <a:srgbClr val="71B1D7"/>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25.9%</a:t>
                      </a:r>
                    </a:p>
                  </a:txBody>
                  <a:tcPr marL="91440" marR="91440" marT="45720" marB="45720" anchor="ctr">
                    <a:solidFill>
                      <a:srgbClr val="C3DAEE"/>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3.3%</a:t>
                      </a:r>
                    </a:p>
                  </a:txBody>
                  <a:tcPr marL="91440" marR="91440" marT="45720" marB="45720" anchor="ctr">
                    <a:solidFill>
                      <a:srgbClr val="F1F7FD"/>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17.3%</a:t>
                      </a:r>
                    </a:p>
                  </a:txBody>
                  <a:tcPr marL="91440" marR="91440" marT="45720" marB="45720" anchor="ctr">
                    <a:solidFill>
                      <a:srgbClr val="D5E5F4"/>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4.9%</a:t>
                      </a:r>
                    </a:p>
                  </a:txBody>
                  <a:tcPr marL="91440" marR="91440" marT="45720" marB="45720" anchor="ctr">
                    <a:solidFill>
                      <a:srgbClr val="EEF5FC"/>
                    </a:solidFill>
                  </a:tcPr>
                </a:tc>
              </a:tr>
              <a:tr h="590550">
                <a:tc>
                  <a:txBody>
                    <a:bodyPr wrap="square" lIns="76200" tIns="47625" rIns="114300" bIns="47625">
                      <a:noAutofit/>
                    </a:bodyPr>
                    <a:lstStyle/>
                    <a:p>
                      <a:pPr algn="r"/>
                      <a:r>
                        <a:rPr sz="2100" b="0">
                          <a:solidFill>
                            <a:srgbClr val="202124"/>
                          </a:solidFill>
                          <a:latin typeface="Arial Unicode MS"/>
                          <a:ea typeface="Arial Unicode MS"/>
                          <a:cs typeface="Arial Unicode MS"/>
                        </a:rPr>
                        <a:t>2001–2020</a:t>
                      </a:r>
                    </a:p>
                  </a:txBody>
                  <a:tcPr marL="91440" marR="91440" marT="45720" marB="45720" anchor="ctr">
                    <a:solidFill>
                      <a:srgbClr val="FFFFFF"/>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52.0%</a:t>
                      </a:r>
                    </a:p>
                  </a:txBody>
                  <a:tcPr marL="91440" marR="91440" marT="45720" marB="45720" anchor="ctr">
                    <a:solidFill>
                      <a:srgbClr val="64A9D3"/>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13.7%</a:t>
                      </a:r>
                    </a:p>
                  </a:txBody>
                  <a:tcPr marL="91440" marR="91440" marT="45720" marB="45720" anchor="ctr">
                    <a:solidFill>
                      <a:srgbClr val="DCE9F6"/>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12.0%</a:t>
                      </a:r>
                    </a:p>
                  </a:txBody>
                  <a:tcPr marL="91440" marR="91440" marT="45720" marB="45720" anchor="ctr">
                    <a:solidFill>
                      <a:srgbClr val="DFECF7"/>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19.4%</a:t>
                      </a:r>
                    </a:p>
                  </a:txBody>
                  <a:tcPr marL="91440" marR="91440" marT="45720" marB="45720" anchor="ctr">
                    <a:solidFill>
                      <a:srgbClr val="D1E2F3"/>
                    </a:solidFill>
                  </a:tcPr>
                </a:tc>
                <a:tc>
                  <a:txBody>
                    <a:bodyPr wrap="square" lIns="76200" tIns="47625" rIns="114300" bIns="47625">
                      <a:noAutofit/>
                    </a:bodyPr>
                    <a:lstStyle/>
                    <a:p>
                      <a:pPr algn="ctr"/>
                      <a:r>
                        <a:rPr sz="2100" b="0">
                          <a:solidFill>
                            <a:srgbClr val="202124"/>
                          </a:solidFill>
                          <a:latin typeface="Arial Unicode MS"/>
                          <a:ea typeface="Arial Unicode MS"/>
                          <a:cs typeface="Arial Unicode MS"/>
                        </a:rPr>
                        <a:t>2.9%</a:t>
                      </a:r>
                    </a:p>
                  </a:txBody>
                  <a:tcPr marL="91440" marR="91440" marT="45720" marB="45720" anchor="ctr">
                    <a:solidFill>
                      <a:srgbClr val="F2F7FD"/>
                    </a:solidFill>
                  </a:tcPr>
                </a:tc>
              </a:tr>
            </a:tbl>
          </a:graphicData>
        </a:graphic>
      </p:graphicFrame>
      <p:sp>
        <p:nvSpPr>
          <p:cNvPr id="4" name="">
            <a:extLst xmlns:a="http://schemas.openxmlformats.org/drawingml/2006/main">
              <a:ext uri="{FF2B5EF4-FFF2-40B4-BE49-F238E27FC236}">
                <a16:creationId xmlns:a16="http://schemas.microsoft.com/office/drawing/2014/main" id="{ACE6BD8D-6556-4C4A-8D43-514E3FD407FC}"/>
              </a:ext>
            </a:extLst>
          </p:cNvPr>
          <p:cNvSpPr>
            <a:spLocks xmlns:a="http://schemas.openxmlformats.org/drawingml/2006/main" noGrp="1"/>
          </p:cNvSpPr>
          <p:nvPr/>
        </p:nvSpPr>
        <p:spPr>
          <a:xfrm xmlns:a="http://schemas.openxmlformats.org/drawingml/2006/main">
            <a:off x="952500" y="2381250"/>
            <a:ext cx="12287250" cy="0"/>
          </a:xfrm>
          <a:prstGeom xmlns:a="http://schemas.openxmlformats.org/drawingml/2006/main" prst="line">
            <a:avLst/>
          </a:prstGeom>
          <a:noFill xmlns:a="http://schemas.openxmlformats.org/drawingml/2006/main"/>
          <a:ln xmlns:a="http://schemas.openxmlformats.org/drawingml/2006/main" w="9525">
            <a:solidFill>
              <a:srgbClr val="D9D9D9"/>
            </a:solidFill>
          </a:ln>
        </p:spPr>
      </p:sp>
      <p:sp>
        <p:nvSpPr>
          <p:cNvPr id="5" name="">
            <a:extLst xmlns:a="http://schemas.openxmlformats.org/drawingml/2006/main">
              <a:ext uri="{FF2B5EF4-FFF2-40B4-BE49-F238E27FC236}">
                <a16:creationId xmlns:a16="http://schemas.microsoft.com/office/drawing/2014/main" id="{2240856F-EFBC-44B8-995B-85CFCA275D0B}"/>
              </a:ext>
            </a:extLst>
          </p:cNvPr>
          <p:cNvSpPr>
            <a:spLocks xmlns:a="http://schemas.openxmlformats.org/drawingml/2006/main" noGrp="1"/>
          </p:cNvSpPr>
          <p:nvPr/>
        </p:nvSpPr>
        <p:spPr>
          <a:xfrm xmlns:a="http://schemas.openxmlformats.org/drawingml/2006/main">
            <a:off x="952500" y="2971800"/>
            <a:ext cx="1228725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6" name="">
            <a:extLst xmlns:a="http://schemas.openxmlformats.org/drawingml/2006/main">
              <a:ext uri="{FF2B5EF4-FFF2-40B4-BE49-F238E27FC236}">
                <a16:creationId xmlns:a16="http://schemas.microsoft.com/office/drawing/2014/main" id="{B9633426-9AB2-4CDE-B7F5-689EC15486F6}"/>
              </a:ext>
            </a:extLst>
          </p:cNvPr>
          <p:cNvSpPr>
            <a:spLocks xmlns:a="http://schemas.openxmlformats.org/drawingml/2006/main" noGrp="1"/>
          </p:cNvSpPr>
          <p:nvPr/>
        </p:nvSpPr>
        <p:spPr>
          <a:xfrm xmlns:a="http://schemas.openxmlformats.org/drawingml/2006/main">
            <a:off x="952500" y="3562350"/>
            <a:ext cx="1228725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7" name="">
            <a:extLst xmlns:a="http://schemas.openxmlformats.org/drawingml/2006/main">
              <a:ext uri="{FF2B5EF4-FFF2-40B4-BE49-F238E27FC236}">
                <a16:creationId xmlns:a16="http://schemas.microsoft.com/office/drawing/2014/main" id="{B994A7CF-81BE-4126-AD1D-4CEE2ACEB9CE}"/>
              </a:ext>
            </a:extLst>
          </p:cNvPr>
          <p:cNvSpPr>
            <a:spLocks xmlns:a="http://schemas.openxmlformats.org/drawingml/2006/main" noGrp="1"/>
          </p:cNvSpPr>
          <p:nvPr/>
        </p:nvSpPr>
        <p:spPr>
          <a:xfrm xmlns:a="http://schemas.openxmlformats.org/drawingml/2006/main">
            <a:off x="952500" y="4152900"/>
            <a:ext cx="1228725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8" name="">
            <a:extLst xmlns:a="http://schemas.openxmlformats.org/drawingml/2006/main">
              <a:ext uri="{FF2B5EF4-FFF2-40B4-BE49-F238E27FC236}">
                <a16:creationId xmlns:a16="http://schemas.microsoft.com/office/drawing/2014/main" id="{2827AD9E-0EE1-471E-9A81-869A75449961}"/>
              </a:ext>
            </a:extLst>
          </p:cNvPr>
          <p:cNvSpPr>
            <a:spLocks xmlns:a="http://schemas.openxmlformats.org/drawingml/2006/main" noGrp="1"/>
          </p:cNvSpPr>
          <p:nvPr/>
        </p:nvSpPr>
        <p:spPr>
          <a:xfrm xmlns:a="http://schemas.openxmlformats.org/drawingml/2006/main">
            <a:off x="952500" y="4743450"/>
            <a:ext cx="1228725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9" name="">
            <a:extLst xmlns:a="http://schemas.openxmlformats.org/drawingml/2006/main">
              <a:ext uri="{FF2B5EF4-FFF2-40B4-BE49-F238E27FC236}">
                <a16:creationId xmlns:a16="http://schemas.microsoft.com/office/drawing/2014/main" id="{9CB60B48-1418-4B26-BB2D-5014C795C836}"/>
              </a:ext>
            </a:extLst>
          </p:cNvPr>
          <p:cNvSpPr>
            <a:spLocks xmlns:a="http://schemas.openxmlformats.org/drawingml/2006/main" noGrp="1"/>
          </p:cNvSpPr>
          <p:nvPr/>
        </p:nvSpPr>
        <p:spPr>
          <a:xfrm xmlns:a="http://schemas.openxmlformats.org/drawingml/2006/main">
            <a:off x="952500" y="5334000"/>
            <a:ext cx="1228725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10" name="">
            <a:extLst xmlns:a="http://schemas.openxmlformats.org/drawingml/2006/main">
              <a:ext uri="{FF2B5EF4-FFF2-40B4-BE49-F238E27FC236}">
                <a16:creationId xmlns:a16="http://schemas.microsoft.com/office/drawing/2014/main" id="{55AF4F44-C1F7-4527-B999-F9FC72DB3547}"/>
              </a:ext>
            </a:extLst>
          </p:cNvPr>
          <p:cNvSpPr>
            <a:spLocks xmlns:a="http://schemas.openxmlformats.org/drawingml/2006/main" noGrp="1"/>
          </p:cNvSpPr>
          <p:nvPr/>
        </p:nvSpPr>
        <p:spPr>
          <a:xfrm xmlns:a="http://schemas.openxmlformats.org/drawingml/2006/main">
            <a:off x="952500" y="5924550"/>
            <a:ext cx="12287250" cy="0"/>
          </a:xfrm>
          <a:prstGeom xmlns:a="http://schemas.openxmlformats.org/drawingml/2006/main" prst="line">
            <a:avLst/>
          </a:prstGeom>
          <a:noFill xmlns:a="http://schemas.openxmlformats.org/drawingml/2006/main"/>
          <a:ln xmlns:a="http://schemas.openxmlformats.org/drawingml/2006/main" w="9525">
            <a:solidFill>
              <a:srgbClr val="E8E8E8"/>
            </a:solidFill>
          </a:ln>
        </p:spPr>
      </p:sp>
      <p:sp>
        <p:nvSpPr>
          <p:cNvPr id="11" name="">
            <a:extLst xmlns:a="http://schemas.openxmlformats.org/drawingml/2006/main">
              <a:ext uri="{FF2B5EF4-FFF2-40B4-BE49-F238E27FC236}">
                <a16:creationId xmlns:a16="http://schemas.microsoft.com/office/drawing/2014/main" id="{17D8D579-B3BB-4BF8-9804-6D32F60E152F}"/>
              </a:ext>
            </a:extLst>
          </p:cNvPr>
          <p:cNvSpPr>
            <a:spLocks xmlns:a="http://schemas.openxmlformats.org/drawingml/2006/main" noGrp="1"/>
          </p:cNvSpPr>
          <p:nvPr/>
        </p:nvSpPr>
        <p:spPr>
          <a:xfrm xmlns:a="http://schemas.openxmlformats.org/drawingml/2006/main">
            <a:off x="952500" y="6515100"/>
            <a:ext cx="12287250" cy="0"/>
          </a:xfrm>
          <a:prstGeom xmlns:a="http://schemas.openxmlformats.org/drawingml/2006/main" prst="line">
            <a:avLst/>
          </a:prstGeom>
          <a:noFill xmlns:a="http://schemas.openxmlformats.org/drawingml/2006/main"/>
          <a:ln xmlns:a="http://schemas.openxmlformats.org/drawingml/2006/main" w="9525">
            <a:solidFill>
              <a:srgbClr val="E8E8E8"/>
            </a:solidFill>
          </a:ln>
        </p:spPr>
      </p:sp>
      <p:graphicFrame>
        <p:nvGraphicFramePr>
          <p:cNvPr id="38" name=""/>
          <p:cNvGraphicFramePr/>
          <p:nvPr/>
        </p:nvGraphicFramePr>
        <p:xfrm>
          <a:off xmlns:a="http://schemas.openxmlformats.org/drawingml/2006/main" x="13811250" y="2400300"/>
          <a:ext xmlns:a="http://schemas.openxmlformats.org/drawingml/2006/main" cx="238125" cy="4667250"/>
        </p:xfrm>
        <a:graphic xmlns:a="http://schemas.openxmlformats.org/drawingml/2006/main">
          <a:graphicData uri="http://schemas.openxmlformats.org/drawingml/2006/table">
            <a:tbl>
              <a:tblPr/>
              <a:tblGrid>
                <a:gridCol w="238125"/>
              </a:tblGrid>
              <a:tr h="424295">
                <a:tc>
                  <a:txBody>
                    <a:bodyPr/>
                    <a:lstStyle/>
                    <a:p>
                      <a:r>
                        <a:t/>
                      </a:r>
                    </a:p>
                  </a:txBody>
                  <a:tcPr marL="91440" marR="91440" marT="45720" marB="45720">
                    <a:solidFill>
                      <a:srgbClr val="08306B"/>
                    </a:solidFill>
                  </a:tcPr>
                </a:tc>
              </a:tr>
              <a:tr h="424295">
                <a:tc>
                  <a:txBody>
                    <a:bodyPr/>
                    <a:lstStyle/>
                    <a:p>
                      <a:r>
                        <a:t/>
                      </a:r>
                    </a:p>
                  </a:txBody>
                  <a:tcPr marL="91440" marR="91440" marT="45720" marB="45720">
                    <a:solidFill>
                      <a:srgbClr val="084A91"/>
                    </a:solidFill>
                  </a:tcPr>
                </a:tc>
              </a:tr>
              <a:tr h="424295">
                <a:tc>
                  <a:txBody>
                    <a:bodyPr/>
                    <a:lstStyle/>
                    <a:p>
                      <a:r>
                        <a:t/>
                      </a:r>
                    </a:p>
                  </a:txBody>
                  <a:tcPr marL="91440" marR="91440" marT="45720" marB="45720">
                    <a:solidFill>
                      <a:srgbClr val="1764AB"/>
                    </a:solidFill>
                  </a:tcPr>
                </a:tc>
              </a:tr>
              <a:tr h="424295">
                <a:tc>
                  <a:txBody>
                    <a:bodyPr/>
                    <a:lstStyle/>
                    <a:p>
                      <a:r>
                        <a:t/>
                      </a:r>
                    </a:p>
                  </a:txBody>
                  <a:tcPr marL="91440" marR="91440" marT="45720" marB="45720">
                    <a:solidFill>
                      <a:srgbClr val="2E7EBC"/>
                    </a:solidFill>
                  </a:tcPr>
                </a:tc>
              </a:tr>
              <a:tr h="424295">
                <a:tc>
                  <a:txBody>
                    <a:bodyPr/>
                    <a:lstStyle/>
                    <a:p>
                      <a:r>
                        <a:t/>
                      </a:r>
                    </a:p>
                  </a:txBody>
                  <a:tcPr marL="91440" marR="91440" marT="45720" marB="45720">
                    <a:solidFill>
                      <a:srgbClr val="4A98C9"/>
                    </a:solidFill>
                  </a:tcPr>
                </a:tc>
              </a:tr>
              <a:tr h="424295">
                <a:tc>
                  <a:txBody>
                    <a:bodyPr/>
                    <a:lstStyle/>
                    <a:p>
                      <a:r>
                        <a:t/>
                      </a:r>
                    </a:p>
                  </a:txBody>
                  <a:tcPr marL="91440" marR="91440" marT="45720" marB="45720">
                    <a:solidFill>
                      <a:srgbClr val="6AAED6"/>
                    </a:solidFill>
                  </a:tcPr>
                </a:tc>
              </a:tr>
              <a:tr h="424295">
                <a:tc>
                  <a:txBody>
                    <a:bodyPr/>
                    <a:lstStyle/>
                    <a:p>
                      <a:r>
                        <a:t/>
                      </a:r>
                    </a:p>
                  </a:txBody>
                  <a:tcPr marL="91440" marR="91440" marT="45720" marB="45720">
                    <a:solidFill>
                      <a:srgbClr val="94C4DF"/>
                    </a:solidFill>
                  </a:tcPr>
                </a:tc>
              </a:tr>
              <a:tr h="424295">
                <a:tc>
                  <a:txBody>
                    <a:bodyPr/>
                    <a:lstStyle/>
                    <a:p>
                      <a:r>
                        <a:t/>
                      </a:r>
                    </a:p>
                  </a:txBody>
                  <a:tcPr marL="91440" marR="91440" marT="45720" marB="45720">
                    <a:solidFill>
                      <a:srgbClr val="B7D4EA"/>
                    </a:solidFill>
                  </a:tcPr>
                </a:tc>
              </a:tr>
              <a:tr h="424295">
                <a:tc>
                  <a:txBody>
                    <a:bodyPr/>
                    <a:lstStyle/>
                    <a:p>
                      <a:r>
                        <a:t/>
                      </a:r>
                    </a:p>
                  </a:txBody>
                  <a:tcPr marL="91440" marR="91440" marT="45720" marB="45720">
                    <a:solidFill>
                      <a:srgbClr val="D0E1F2"/>
                    </a:solidFill>
                  </a:tcPr>
                </a:tc>
              </a:tr>
              <a:tr h="424295">
                <a:tc>
                  <a:txBody>
                    <a:bodyPr/>
                    <a:lstStyle/>
                    <a:p>
                      <a:r>
                        <a:t/>
                      </a:r>
                    </a:p>
                  </a:txBody>
                  <a:tcPr marL="91440" marR="91440" marT="45720" marB="45720">
                    <a:solidFill>
                      <a:srgbClr val="E3EEF9"/>
                    </a:solidFill>
                  </a:tcPr>
                </a:tc>
              </a:tr>
              <a:tr h="424295">
                <a:tc>
                  <a:txBody>
                    <a:bodyPr/>
                    <a:lstStyle/>
                    <a:p>
                      <a:r>
                        <a:t/>
                      </a:r>
                    </a:p>
                  </a:txBody>
                  <a:tcPr marL="91440" marR="91440" marT="45720" marB="45720">
                    <a:solidFill>
                      <a:srgbClr val="F7FBFF"/>
                    </a:solidFill>
                  </a:tcPr>
                </a:tc>
              </a:tr>
            </a:tbl>
          </a:graphicData>
        </a:graphic>
      </p:graphicFrame>
      <p:sp>
        <p:nvSpPr>
          <p:cNvPr id="13" name="">
            <a:extLst xmlns:a="http://schemas.openxmlformats.org/drawingml/2006/main">
              <a:ext uri="{FF2B5EF4-FFF2-40B4-BE49-F238E27FC236}">
                <a16:creationId xmlns:a16="http://schemas.microsoft.com/office/drawing/2014/main" id="{A295FFCF-B265-4E9D-8A31-DC5FD5190039}"/>
              </a:ext>
            </a:extLst>
          </p:cNvPr>
          <p:cNvSpPr>
            <a:spLocks xmlns:a="http://schemas.openxmlformats.org/drawingml/2006/main" noGrp="1"/>
          </p:cNvSpPr>
          <p:nvPr/>
        </p:nvSpPr>
        <p:spPr>
          <a:xfrm xmlns:a="http://schemas.openxmlformats.org/drawingml/2006/main">
            <a:off x="13649325" y="1857375"/>
            <a:ext cx="95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C6064"/>
                </a:solidFill>
                <a:latin typeface="Arial Unicode MS"/>
                <a:ea typeface="Arial Unicode MS"/>
                <a:cs typeface="Arial Unicode MS"/>
              </a:defRPr>
            </a:pPr>
            <a:r>
              <a:rPr sz="1725" b="0">
                <a:solidFill>
                  <a:srgbClr val="5C6064"/>
                </a:solidFill>
                <a:latin typeface="Arial Unicode MS"/>
                <a:ea typeface="Arial Unicode MS"/>
                <a:cs typeface="Arial Unicode MS"/>
              </a:rPr>
              <a:t>份额</a:t>
            </a:r>
          </a:p>
        </p:txBody>
      </p:sp>
      <p:sp>
        <p:nvSpPr>
          <p:cNvPr id="14" name="">
            <a:extLst xmlns:a="http://schemas.openxmlformats.org/drawingml/2006/main">
              <a:ext uri="{FF2B5EF4-FFF2-40B4-BE49-F238E27FC236}">
                <a16:creationId xmlns:a16="http://schemas.microsoft.com/office/drawing/2014/main" id="{9D277EBF-99C7-47E9-926D-FA3015B192B4}"/>
              </a:ext>
            </a:extLst>
          </p:cNvPr>
          <p:cNvSpPr>
            <a:spLocks xmlns:a="http://schemas.openxmlformats.org/drawingml/2006/main" noGrp="1"/>
          </p:cNvSpPr>
          <p:nvPr/>
        </p:nvSpPr>
        <p:spPr>
          <a:xfrm xmlns:a="http://schemas.openxmlformats.org/drawingml/2006/main">
            <a:off x="14135100" y="2352675"/>
            <a:ext cx="742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5C6064"/>
                </a:solidFill>
                <a:latin typeface="Arial Unicode MS"/>
                <a:ea typeface="Arial Unicode MS"/>
                <a:cs typeface="Arial Unicode MS"/>
              </a:defRPr>
            </a:pPr>
            <a:r>
              <a:rPr sz="1425" b="0">
                <a:solidFill>
                  <a:srgbClr val="5C6064"/>
                </a:solidFill>
                <a:latin typeface="Arial Unicode MS"/>
                <a:ea typeface="Arial Unicode MS"/>
                <a:cs typeface="Arial Unicode MS"/>
              </a:rPr>
              <a:t>100%</a:t>
            </a:r>
          </a:p>
        </p:txBody>
      </p:sp>
      <p:sp>
        <p:nvSpPr>
          <p:cNvPr id="15" name="">
            <a:extLst xmlns:a="http://schemas.openxmlformats.org/drawingml/2006/main">
              <a:ext uri="{FF2B5EF4-FFF2-40B4-BE49-F238E27FC236}">
                <a16:creationId xmlns:a16="http://schemas.microsoft.com/office/drawing/2014/main" id="{ABB00250-13A5-4900-B363-B796D7550EA3}"/>
              </a:ext>
            </a:extLst>
          </p:cNvPr>
          <p:cNvSpPr>
            <a:spLocks xmlns:a="http://schemas.openxmlformats.org/drawingml/2006/main" noGrp="1"/>
          </p:cNvSpPr>
          <p:nvPr/>
        </p:nvSpPr>
        <p:spPr>
          <a:xfrm xmlns:a="http://schemas.openxmlformats.org/drawingml/2006/main">
            <a:off x="14135100" y="2776970"/>
            <a:ext cx="742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5C6064"/>
                </a:solidFill>
                <a:latin typeface="Arial Unicode MS"/>
                <a:ea typeface="Arial Unicode MS"/>
                <a:cs typeface="Arial Unicode MS"/>
              </a:defRPr>
            </a:pPr>
            <a:r>
              <a:rPr sz="1425" b="0">
                <a:solidFill>
                  <a:srgbClr val="5C6064"/>
                </a:solidFill>
                <a:latin typeface="Arial Unicode MS"/>
                <a:ea typeface="Arial Unicode MS"/>
                <a:cs typeface="Arial Unicode MS"/>
              </a:rPr>
              <a:t>90%</a:t>
            </a:r>
          </a:p>
        </p:txBody>
      </p:sp>
      <p:sp>
        <p:nvSpPr>
          <p:cNvPr id="16" name="">
            <a:extLst xmlns:a="http://schemas.openxmlformats.org/drawingml/2006/main">
              <a:ext uri="{FF2B5EF4-FFF2-40B4-BE49-F238E27FC236}">
                <a16:creationId xmlns:a16="http://schemas.microsoft.com/office/drawing/2014/main" id="{FAF56A13-DA4E-4431-A935-C884EBA51AA8}"/>
              </a:ext>
            </a:extLst>
          </p:cNvPr>
          <p:cNvSpPr>
            <a:spLocks xmlns:a="http://schemas.openxmlformats.org/drawingml/2006/main" noGrp="1"/>
          </p:cNvSpPr>
          <p:nvPr/>
        </p:nvSpPr>
        <p:spPr>
          <a:xfrm xmlns:a="http://schemas.openxmlformats.org/drawingml/2006/main">
            <a:off x="14135100" y="3201266"/>
            <a:ext cx="742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5C6064"/>
                </a:solidFill>
                <a:latin typeface="Arial Unicode MS"/>
                <a:ea typeface="Arial Unicode MS"/>
                <a:cs typeface="Arial Unicode MS"/>
              </a:defRPr>
            </a:pPr>
            <a:r>
              <a:rPr sz="1425" b="0">
                <a:solidFill>
                  <a:srgbClr val="5C6064"/>
                </a:solidFill>
                <a:latin typeface="Arial Unicode MS"/>
                <a:ea typeface="Arial Unicode MS"/>
                <a:cs typeface="Arial Unicode MS"/>
              </a:rPr>
              <a:t>80%</a:t>
            </a:r>
          </a:p>
        </p:txBody>
      </p:sp>
      <p:sp>
        <p:nvSpPr>
          <p:cNvPr id="17" name="">
            <a:extLst xmlns:a="http://schemas.openxmlformats.org/drawingml/2006/main">
              <a:ext uri="{FF2B5EF4-FFF2-40B4-BE49-F238E27FC236}">
                <a16:creationId xmlns:a16="http://schemas.microsoft.com/office/drawing/2014/main" id="{27726FC0-0AE9-41A6-BF42-9B5A4CC078B0}"/>
              </a:ext>
            </a:extLst>
          </p:cNvPr>
          <p:cNvSpPr>
            <a:spLocks xmlns:a="http://schemas.openxmlformats.org/drawingml/2006/main" noGrp="1"/>
          </p:cNvSpPr>
          <p:nvPr/>
        </p:nvSpPr>
        <p:spPr>
          <a:xfrm xmlns:a="http://schemas.openxmlformats.org/drawingml/2006/main">
            <a:off x="14135100" y="3625561"/>
            <a:ext cx="742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5C6064"/>
                </a:solidFill>
                <a:latin typeface="Arial Unicode MS"/>
                <a:ea typeface="Arial Unicode MS"/>
                <a:cs typeface="Arial Unicode MS"/>
              </a:defRPr>
            </a:pPr>
            <a:r>
              <a:rPr sz="1425" b="0">
                <a:solidFill>
                  <a:srgbClr val="5C6064"/>
                </a:solidFill>
                <a:latin typeface="Arial Unicode MS"/>
                <a:ea typeface="Arial Unicode MS"/>
                <a:cs typeface="Arial Unicode MS"/>
              </a:rPr>
              <a:t>70%</a:t>
            </a:r>
          </a:p>
        </p:txBody>
      </p:sp>
      <p:sp>
        <p:nvSpPr>
          <p:cNvPr id="18" name="">
            <a:extLst xmlns:a="http://schemas.openxmlformats.org/drawingml/2006/main">
              <a:ext uri="{FF2B5EF4-FFF2-40B4-BE49-F238E27FC236}">
                <a16:creationId xmlns:a16="http://schemas.microsoft.com/office/drawing/2014/main" id="{EDA494A4-BFB5-4EB1-B77A-C0515FED30A4}"/>
              </a:ext>
            </a:extLst>
          </p:cNvPr>
          <p:cNvSpPr>
            <a:spLocks xmlns:a="http://schemas.openxmlformats.org/drawingml/2006/main" noGrp="1"/>
          </p:cNvSpPr>
          <p:nvPr/>
        </p:nvSpPr>
        <p:spPr>
          <a:xfrm xmlns:a="http://schemas.openxmlformats.org/drawingml/2006/main">
            <a:off x="14135100" y="4049857"/>
            <a:ext cx="742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5C6064"/>
                </a:solidFill>
                <a:latin typeface="Arial Unicode MS"/>
                <a:ea typeface="Arial Unicode MS"/>
                <a:cs typeface="Arial Unicode MS"/>
              </a:defRPr>
            </a:pPr>
            <a:r>
              <a:rPr sz="1425" b="0">
                <a:solidFill>
                  <a:srgbClr val="5C6064"/>
                </a:solidFill>
                <a:latin typeface="Arial Unicode MS"/>
                <a:ea typeface="Arial Unicode MS"/>
                <a:cs typeface="Arial Unicode MS"/>
              </a:rPr>
              <a:t>60%</a:t>
            </a:r>
          </a:p>
        </p:txBody>
      </p:sp>
      <p:sp>
        <p:nvSpPr>
          <p:cNvPr id="19" name="">
            <a:extLst xmlns:a="http://schemas.openxmlformats.org/drawingml/2006/main">
              <a:ext uri="{FF2B5EF4-FFF2-40B4-BE49-F238E27FC236}">
                <a16:creationId xmlns:a16="http://schemas.microsoft.com/office/drawing/2014/main" id="{8CC39BC1-1635-47CF-8E36-1DFAACE61C1F}"/>
              </a:ext>
            </a:extLst>
          </p:cNvPr>
          <p:cNvSpPr>
            <a:spLocks xmlns:a="http://schemas.openxmlformats.org/drawingml/2006/main" noGrp="1"/>
          </p:cNvSpPr>
          <p:nvPr/>
        </p:nvSpPr>
        <p:spPr>
          <a:xfrm xmlns:a="http://schemas.openxmlformats.org/drawingml/2006/main">
            <a:off x="14135100" y="4474152"/>
            <a:ext cx="742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5C6064"/>
                </a:solidFill>
                <a:latin typeface="Arial Unicode MS"/>
                <a:ea typeface="Arial Unicode MS"/>
                <a:cs typeface="Arial Unicode MS"/>
              </a:defRPr>
            </a:pPr>
            <a:r>
              <a:rPr sz="1425" b="0">
                <a:solidFill>
                  <a:srgbClr val="5C6064"/>
                </a:solidFill>
                <a:latin typeface="Arial Unicode MS"/>
                <a:ea typeface="Arial Unicode MS"/>
                <a:cs typeface="Arial Unicode MS"/>
              </a:rPr>
              <a:t>50%</a:t>
            </a:r>
          </a:p>
        </p:txBody>
      </p:sp>
      <p:sp>
        <p:nvSpPr>
          <p:cNvPr id="20" name="">
            <a:extLst xmlns:a="http://schemas.openxmlformats.org/drawingml/2006/main">
              <a:ext uri="{FF2B5EF4-FFF2-40B4-BE49-F238E27FC236}">
                <a16:creationId xmlns:a16="http://schemas.microsoft.com/office/drawing/2014/main" id="{9B308D88-6500-4371-9A37-24153E9AB4AE}"/>
              </a:ext>
            </a:extLst>
          </p:cNvPr>
          <p:cNvSpPr>
            <a:spLocks xmlns:a="http://schemas.openxmlformats.org/drawingml/2006/main" noGrp="1"/>
          </p:cNvSpPr>
          <p:nvPr/>
        </p:nvSpPr>
        <p:spPr>
          <a:xfrm xmlns:a="http://schemas.openxmlformats.org/drawingml/2006/main">
            <a:off x="14135100" y="4898448"/>
            <a:ext cx="742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5C6064"/>
                </a:solidFill>
                <a:latin typeface="Arial Unicode MS"/>
                <a:ea typeface="Arial Unicode MS"/>
                <a:cs typeface="Arial Unicode MS"/>
              </a:defRPr>
            </a:pPr>
            <a:r>
              <a:rPr sz="1425" b="0">
                <a:solidFill>
                  <a:srgbClr val="5C6064"/>
                </a:solidFill>
                <a:latin typeface="Arial Unicode MS"/>
                <a:ea typeface="Arial Unicode MS"/>
                <a:cs typeface="Arial Unicode MS"/>
              </a:rPr>
              <a:t>40%</a:t>
            </a:r>
          </a:p>
        </p:txBody>
      </p:sp>
      <p:sp>
        <p:nvSpPr>
          <p:cNvPr id="21" name="">
            <a:extLst xmlns:a="http://schemas.openxmlformats.org/drawingml/2006/main">
              <a:ext uri="{FF2B5EF4-FFF2-40B4-BE49-F238E27FC236}">
                <a16:creationId xmlns:a16="http://schemas.microsoft.com/office/drawing/2014/main" id="{718FC71D-4E45-4172-AC94-17C053793019}"/>
              </a:ext>
            </a:extLst>
          </p:cNvPr>
          <p:cNvSpPr>
            <a:spLocks xmlns:a="http://schemas.openxmlformats.org/drawingml/2006/main" noGrp="1"/>
          </p:cNvSpPr>
          <p:nvPr/>
        </p:nvSpPr>
        <p:spPr>
          <a:xfrm xmlns:a="http://schemas.openxmlformats.org/drawingml/2006/main">
            <a:off x="14135100" y="5322743"/>
            <a:ext cx="742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5C6064"/>
                </a:solidFill>
                <a:latin typeface="Arial Unicode MS"/>
                <a:ea typeface="Arial Unicode MS"/>
                <a:cs typeface="Arial Unicode MS"/>
              </a:defRPr>
            </a:pPr>
            <a:r>
              <a:rPr sz="1425" b="0">
                <a:solidFill>
                  <a:srgbClr val="5C6064"/>
                </a:solidFill>
                <a:latin typeface="Arial Unicode MS"/>
                <a:ea typeface="Arial Unicode MS"/>
                <a:cs typeface="Arial Unicode MS"/>
              </a:rPr>
              <a:t>30%</a:t>
            </a:r>
          </a:p>
        </p:txBody>
      </p:sp>
      <p:sp>
        <p:nvSpPr>
          <p:cNvPr id="22" name="">
            <a:extLst xmlns:a="http://schemas.openxmlformats.org/drawingml/2006/main">
              <a:ext uri="{FF2B5EF4-FFF2-40B4-BE49-F238E27FC236}">
                <a16:creationId xmlns:a16="http://schemas.microsoft.com/office/drawing/2014/main" id="{C9E34E26-2231-4217-8E45-7A0D9019D233}"/>
              </a:ext>
            </a:extLst>
          </p:cNvPr>
          <p:cNvSpPr>
            <a:spLocks xmlns:a="http://schemas.openxmlformats.org/drawingml/2006/main" noGrp="1"/>
          </p:cNvSpPr>
          <p:nvPr/>
        </p:nvSpPr>
        <p:spPr>
          <a:xfrm xmlns:a="http://schemas.openxmlformats.org/drawingml/2006/main">
            <a:off x="14135100" y="5747039"/>
            <a:ext cx="742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5C6064"/>
                </a:solidFill>
                <a:latin typeface="Arial Unicode MS"/>
                <a:ea typeface="Arial Unicode MS"/>
                <a:cs typeface="Arial Unicode MS"/>
              </a:defRPr>
            </a:pPr>
            <a:r>
              <a:rPr sz="1425" b="0">
                <a:solidFill>
                  <a:srgbClr val="5C6064"/>
                </a:solidFill>
                <a:latin typeface="Arial Unicode MS"/>
                <a:ea typeface="Arial Unicode MS"/>
                <a:cs typeface="Arial Unicode MS"/>
              </a:rPr>
              <a:t>20%</a:t>
            </a:r>
          </a:p>
        </p:txBody>
      </p:sp>
      <p:sp>
        <p:nvSpPr>
          <p:cNvPr id="23" name="">
            <a:extLst xmlns:a="http://schemas.openxmlformats.org/drawingml/2006/main">
              <a:ext uri="{FF2B5EF4-FFF2-40B4-BE49-F238E27FC236}">
                <a16:creationId xmlns:a16="http://schemas.microsoft.com/office/drawing/2014/main" id="{97957275-9FA8-4184-BBFA-3BBF0D5022BE}"/>
              </a:ext>
            </a:extLst>
          </p:cNvPr>
          <p:cNvSpPr>
            <a:spLocks xmlns:a="http://schemas.openxmlformats.org/drawingml/2006/main" noGrp="1"/>
          </p:cNvSpPr>
          <p:nvPr/>
        </p:nvSpPr>
        <p:spPr>
          <a:xfrm xmlns:a="http://schemas.openxmlformats.org/drawingml/2006/main">
            <a:off x="14135100" y="6171334"/>
            <a:ext cx="742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5C6064"/>
                </a:solidFill>
                <a:latin typeface="Arial Unicode MS"/>
                <a:ea typeface="Arial Unicode MS"/>
                <a:cs typeface="Arial Unicode MS"/>
              </a:defRPr>
            </a:pPr>
            <a:r>
              <a:rPr sz="1425" b="0">
                <a:solidFill>
                  <a:srgbClr val="5C6064"/>
                </a:solidFill>
                <a:latin typeface="Arial Unicode MS"/>
                <a:ea typeface="Arial Unicode MS"/>
                <a:cs typeface="Arial Unicode MS"/>
              </a:rPr>
              <a:t>10%</a:t>
            </a:r>
          </a:p>
        </p:txBody>
      </p:sp>
      <p:sp>
        <p:nvSpPr>
          <p:cNvPr id="24" name="">
            <a:extLst xmlns:a="http://schemas.openxmlformats.org/drawingml/2006/main">
              <a:ext uri="{FF2B5EF4-FFF2-40B4-BE49-F238E27FC236}">
                <a16:creationId xmlns:a16="http://schemas.microsoft.com/office/drawing/2014/main" id="{00B27C7C-FF1D-4203-AC6A-FCF850FD4E26}"/>
              </a:ext>
            </a:extLst>
          </p:cNvPr>
          <p:cNvSpPr>
            <a:spLocks xmlns:a="http://schemas.openxmlformats.org/drawingml/2006/main" noGrp="1"/>
          </p:cNvSpPr>
          <p:nvPr/>
        </p:nvSpPr>
        <p:spPr>
          <a:xfrm xmlns:a="http://schemas.openxmlformats.org/drawingml/2006/main">
            <a:off x="14135100" y="6595630"/>
            <a:ext cx="742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5C6064"/>
                </a:solidFill>
                <a:latin typeface="Arial Unicode MS"/>
                <a:ea typeface="Arial Unicode MS"/>
                <a:cs typeface="Arial Unicode MS"/>
              </a:defRPr>
            </a:pPr>
            <a:r>
              <a:rPr sz="1425" b="0">
                <a:solidFill>
                  <a:srgbClr val="5C6064"/>
                </a:solidFill>
                <a:latin typeface="Arial Unicode MS"/>
                <a:ea typeface="Arial Unicode MS"/>
                <a:cs typeface="Arial Unicode MS"/>
              </a:rPr>
              <a:t>0%</a:t>
            </a:r>
          </a:p>
        </p:txBody>
      </p:sp>
      <p:sp>
        <p:nvSpPr>
          <p:cNvPr id="25" name="">
            <a:extLst xmlns:a="http://schemas.openxmlformats.org/drawingml/2006/main">
              <a:ext uri="{FF2B5EF4-FFF2-40B4-BE49-F238E27FC236}">
                <a16:creationId xmlns:a16="http://schemas.microsoft.com/office/drawing/2014/main" id="{0CF8F72B-CD3B-4CFD-8177-3E45D0B4D44E}"/>
              </a:ext>
            </a:extLst>
          </p:cNvPr>
          <p:cNvSpPr>
            <a:spLocks xmlns:a="http://schemas.openxmlformats.org/drawingml/2006/main" noGrp="1"/>
          </p:cNvSpPr>
          <p:nvPr/>
        </p:nvSpPr>
        <p:spPr>
          <a:xfrm xmlns:a="http://schemas.openxmlformats.org/drawingml/2006/main">
            <a:off x="952500" y="7467600"/>
            <a:ext cx="1371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13" b="0">
                <a:solidFill>
                  <a:srgbClr val="5C6064"/>
                </a:solidFill>
                <a:latin typeface="Arial Unicode MS"/>
                <a:ea typeface="Arial Unicode MS"/>
                <a:cs typeface="Arial Unicode MS"/>
              </a:defRPr>
            </a:pPr>
            <a:r>
              <a:rPr sz="1613" b="0">
                <a:solidFill>
                  <a:srgbClr val="5C6064"/>
                </a:solidFill>
                <a:latin typeface="Arial Unicode MS"/>
                <a:ea typeface="Arial Unicode MS"/>
                <a:cs typeface="Arial Unicode MS"/>
              </a:rPr>
              <a:t>* 该时期 Layer 0 的全部采样消息均保留。灰色表示没有采样消息。每行合计 100%，原向与反向合并。</a:t>
            </a:r>
          </a:p>
        </p:txBody>
      </p:sp>
      <p:sp>
        <p:nvSpPr>
          <p:cNvPr id="26" name="">
            <a:extLst xmlns:a="http://schemas.openxmlformats.org/drawingml/2006/main">
              <a:ext uri="{FF2B5EF4-FFF2-40B4-BE49-F238E27FC236}">
                <a16:creationId xmlns:a16="http://schemas.microsoft.com/office/drawing/2014/main" id="{54910B8B-90D2-4847-A1E1-F1D3796BF3B0}"/>
              </a:ext>
            </a:extLst>
          </p:cNvPr>
          <p:cNvSpPr>
            <a:spLocks xmlns:a="http://schemas.openxmlformats.org/drawingml/2006/main" noGrp="1"/>
          </p:cNvSpPr>
          <p:nvPr/>
        </p:nvSpPr>
        <p:spPr>
          <a:xfrm xmlns:a="http://schemas.openxmlformats.org/drawingml/2006/main">
            <a:off x="952500" y="7915275"/>
            <a:ext cx="1371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13" b="0">
                <a:solidFill>
                  <a:srgbClr val="5C6064"/>
                </a:solidFill>
                <a:latin typeface="Arial Unicode MS"/>
                <a:ea typeface="Arial Unicode MS"/>
                <a:cs typeface="Arial Unicode MS"/>
              </a:defRPr>
            </a:pPr>
            <a:r>
              <a:rPr sz="1613" b="0">
                <a:solidFill>
                  <a:srgbClr val="5C6064"/>
                </a:solidFill>
                <a:latin typeface="Arial Unicode MS"/>
                <a:ea typeface="Arial Unicode MS"/>
                <a:cs typeface="Arial Unicode MS"/>
              </a:rPr>
              <a:t>测试根节点，seed 42，邻居采样 15/10。保留份额受关系供给量与采样上下文影响，不能视为因果重要性。</a:t>
            </a:r>
          </a:p>
        </p:txBody>
      </p:sp>
    </p:spTree>
    <p:extLst>
      <p:ext uri="{BB962C8B-B14F-4D97-AF65-F5344CB8AC3E}">
        <p14:creationId xmlns:p14="http://schemas.microsoft.com/office/powerpoint/2010/main" val="9344242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2026-10-07T04:58:10.7670000Z</dcterms:created>
  <dcterms:modified xsi:type="dcterms:W3CDTF">2026-10-07T04:58:10.7670000Z</dcterms:modified>
</coreProperties>
</file>